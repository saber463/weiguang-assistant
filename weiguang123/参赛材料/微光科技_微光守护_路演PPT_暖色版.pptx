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635000" dist="50800" dir="16200000">
              <a:srgbClr val="FF6B35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FFC145"/>
          </a:solidFill>
          <a:ln/>
          <a:effectLst>
            <a:outerShdw sx="100000" sy="100000" kx="0" ky="0" algn="bl" rotWithShape="0" blurRad="381000" dist="50800" dir="16200000">
              <a:srgbClr val="FFC145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0" y="457200"/>
            <a:ext cx="1371600" cy="1371600"/>
          </a:xfrm>
          <a:prstGeom prst="ellipse">
            <a:avLst/>
          </a:prstGeom>
          <a:solidFill>
            <a:srgbClr val="EF476F"/>
          </a:solidFill>
          <a:ln/>
          <a:effectLst>
            <a:outerShdw sx="100000" sy="100000" kx="0" ky="0" algn="bl" rotWithShape="0" blurRad="317500" dist="50800" dir="16200000">
              <a:srgbClr val="EF476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0" y="548640"/>
            <a:ext cx="3959352" cy="384048"/>
          </a:xfrm>
          <a:prstGeom prst="roundRect">
            <a:avLst>
              <a:gd name="adj" fmla="val 47619"/>
            </a:avLst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548640"/>
            <a:ext cx="3959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DF9"/>
                </a:solidFill>
              </a:rPr>
              <a:t>2026 AI助残创新创意大赛 · 创意赛道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之手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8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搭建听障人士与世界沟通的桥梁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0" y="3017520"/>
            <a:ext cx="4873752" cy="27432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375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D97A"/>
                </a:solidFill>
              </a:rPr>
              <a:t>微光守护 — AI 多模态无声安全预警系统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B5"/>
                </a:solidFill>
              </a:rPr>
              <a:t>2700 万听障人士  ·  6 大安全预警模块  ·  11 种手势识别  ·  100% 端侧推理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48463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微光科技（WeiGuang Tech）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525780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天府新区通用航空职业学院  |  2026 年 7 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2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408176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081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371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项目简介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1572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目标用户 · 核心定位 · 关键数据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43584" y="1737360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1792224"/>
            <a:ext cx="310896" cy="310896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792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重点分析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195681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六大日常安全核心痛点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43584" y="2121408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2176272"/>
            <a:ext cx="310896" cy="310896"/>
          </a:xfrm>
          <a:prstGeom prst="ellipse">
            <a:avLst/>
          </a:prstGeom>
          <a:solidFill>
            <a:srgbClr val="E55A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21396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产品方案设计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23408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AI 多模态安全预警六大模块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43584" y="2505456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2560320"/>
            <a:ext cx="310896" cy="31089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2560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25237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手势识别与手语交互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272491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11 种手势实时识别 · 双向手语翻译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43584" y="2889504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294436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45920" y="2907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技术方案 · 真机展示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45920" y="310896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五大模块在手机上的实际运行效果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43584" y="3273552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7280" y="3328416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3328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45920" y="32918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技术架构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45920" y="349300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四层架构 · 端侧推理 · 离线优先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43584" y="3657600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7280" y="3712464"/>
            <a:ext cx="310896" cy="310896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3712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645920" y="36758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加密引擎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645920" y="387705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WeiGuang-Secure 零知识加密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43584" y="4041648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" y="4096512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1097280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645920" y="40599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创新亮点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645920" y="426110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五大核心技术 · 三大模式创新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243584" y="4425696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7280" y="448056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9" name="Text 47"/>
          <p:cNvSpPr/>
          <p:nvPr/>
        </p:nvSpPr>
        <p:spPr>
          <a:xfrm>
            <a:off x="109728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09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645920" y="44439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商业模式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645920" y="464515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B2B2C · 免费增值 · 开源生态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43584" y="4809744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7280" y="4864608"/>
            <a:ext cx="310896" cy="310896"/>
          </a:xfrm>
          <a:prstGeom prst="ellipse">
            <a:avLst/>
          </a:prstGeom>
          <a:solidFill>
            <a:srgbClr val="E55A2B"/>
          </a:solidFill>
          <a:ln/>
        </p:spPr>
      </p:sp>
      <p:sp>
        <p:nvSpPr>
          <p:cNvPr id="54" name="Text 52"/>
          <p:cNvSpPr/>
          <p:nvPr/>
        </p:nvSpPr>
        <p:spPr>
          <a:xfrm>
            <a:off x="1097280" y="4864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64592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核心团队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645920" y="502920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微光科技成员介绍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243584" y="5193792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7280" y="5248656"/>
            <a:ext cx="310896" cy="310896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59" name="Text 57"/>
          <p:cNvSpPr/>
          <p:nvPr/>
        </p:nvSpPr>
        <p:spPr>
          <a:xfrm>
            <a:off x="1097280" y="52486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645920" y="5212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社会效益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645920" y="541324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科技向善 · 行业推动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243584" y="5577840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3" name="Shape 61"/>
          <p:cNvSpPr/>
          <p:nvPr/>
        </p:nvSpPr>
        <p:spPr>
          <a:xfrm>
            <a:off x="1097280" y="5632704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64" name="Text 62"/>
          <p:cNvSpPr/>
          <p:nvPr/>
        </p:nvSpPr>
        <p:spPr>
          <a:xfrm>
            <a:off x="1097280" y="5632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645920" y="5596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发展规划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645920" y="579729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三步走战略 · 长期愿景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243584" y="5961888"/>
            <a:ext cx="18288" cy="73152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7280" y="601675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9" name="Text 67"/>
          <p:cNvSpPr/>
          <p:nvPr/>
        </p:nvSpPr>
        <p:spPr>
          <a:xfrm>
            <a:off x="1097280" y="6016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645920" y="59801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致谢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645920" y="61813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7B"/>
                </a:solidFill>
              </a:rPr>
              <a:t>感谢聆听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686800" y="1371600"/>
            <a:ext cx="4114800" cy="41148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381000" dist="50800" dir="16200000">
              <a:srgbClr val="FF6B35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686800" y="22860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D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微光守护 — 为听障人士打造的全场景 AI 安全守护平台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3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6858000" cy="5029200"/>
          </a:xfrm>
          <a:prstGeom prst="roundRect">
            <a:avLst>
              <a:gd name="adj" fmla="val 2182"/>
            </a:avLst>
          </a:prstGeom>
          <a:solidFill>
            <a:srgbClr val="FFFDF9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6858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45336"/>
            <a:ext cx="1188720" cy="292608"/>
          </a:xfrm>
          <a:prstGeom prst="roundRect">
            <a:avLst>
              <a:gd name="adj" fmla="val 46875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4533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目标用户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C2C"/>
                </a:solidFill>
              </a:rPr>
              <a:t>全国 2700 万+ 听障人士，每年新增 2-3 万听障儿童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295144"/>
            <a:ext cx="1188720" cy="292608"/>
          </a:xfrm>
          <a:prstGeom prst="roundRect">
            <a:avLst>
              <a:gd name="adj" fmla="val 46875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9514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核心问题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2585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C2C"/>
                </a:solidFill>
              </a:rPr>
              <a:t>听不见闹钟、火警、燃气泄漏、敲门声、咳嗽异常、跌倒呼救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44952"/>
            <a:ext cx="1188720" cy="292608"/>
          </a:xfrm>
          <a:prstGeom prst="roundRect">
            <a:avLst>
              <a:gd name="adj" fmla="val 46875"/>
            </a:avLst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449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产品定位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0083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C2C"/>
                </a:solidFill>
              </a:rPr>
              <a:t>基于 AI 多模态感知的无声安全预警系统，变 "听不见" 为 "感知到"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1188720" cy="292608"/>
          </a:xfrm>
          <a:prstGeom prst="roundRect">
            <a:avLst>
              <a:gd name="adj" fmla="val 46875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94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运行方式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7581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C2C"/>
                </a:solidFill>
              </a:rPr>
              <a:t>100% 端侧 AI 推理，无需网络，数据不出手机，隐私安全可控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544568"/>
            <a:ext cx="1188720" cy="292608"/>
          </a:xfrm>
          <a:prstGeom prst="roundRect">
            <a:avLst>
              <a:gd name="adj" fmla="val 46875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44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覆盖场景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45079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C2C"/>
                </a:solidFill>
              </a:rPr>
              <a:t>6 大日常安全场景：唤醒、火灾、燃气、健康、安防、跌倒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94376"/>
            <a:ext cx="1188720" cy="292608"/>
          </a:xfrm>
          <a:prstGeom prst="roundRect">
            <a:avLst>
              <a:gd name="adj" fmla="val 46875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943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核心优势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C2C"/>
                </a:solidFill>
              </a:rPr>
              <a:t>零知识加密架构 + 离线可用 + 11 种手势识别 + 双向手语交互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1234440"/>
            <a:ext cx="4114800" cy="5029200"/>
          </a:xfrm>
          <a:prstGeom prst="roundRect">
            <a:avLst>
              <a:gd name="adj" fmla="val 2667"/>
            </a:avLst>
          </a:prstGeom>
          <a:solidFill>
            <a:srgbClr val="2C1810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1508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C52"/>
                </a:solidFill>
              </a:rPr>
              <a:t>2700万+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68096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B5"/>
                </a:solidFill>
              </a:rPr>
              <a:t>听障人士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0" y="2468880"/>
            <a:ext cx="2103120" cy="9144"/>
          </a:xfrm>
          <a:prstGeom prst="rect">
            <a:avLst/>
          </a:prstGeom>
          <a:solidFill>
            <a:srgbClr val="3D2418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2651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145"/>
                </a:solidFill>
              </a:rPr>
              <a:t>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68096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B5"/>
                </a:solidFill>
              </a:rPr>
              <a:t>大安全模块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0" y="3611880"/>
            <a:ext cx="2103120" cy="9144"/>
          </a:xfrm>
          <a:prstGeom prst="rect">
            <a:avLst/>
          </a:prstGeom>
          <a:solidFill>
            <a:srgbClr val="3D2418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3794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76F"/>
                </a:solidFill>
              </a:rPr>
              <a:t>11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68096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B5"/>
                </a:solidFill>
              </a:rPr>
              <a:t>种手势识别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0" y="4754880"/>
            <a:ext cx="2103120" cy="9144"/>
          </a:xfrm>
          <a:prstGeom prst="rect">
            <a:avLst/>
          </a:prstGeom>
          <a:solidFill>
            <a:srgbClr val="3D2418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4937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A77D"/>
                </a:solidFill>
              </a:rPr>
              <a:t>100%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680960" y="5440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B5"/>
                </a:solidFill>
              </a:rPr>
              <a:t>端侧推理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6126480"/>
            <a:ext cx="11338560" cy="384048"/>
          </a:xfrm>
          <a:prstGeom prst="roundRect">
            <a:avLst>
              <a:gd name="adj" fmla="val 19048"/>
            </a:avLst>
          </a:prstGeom>
          <a:solidFill>
            <a:srgbClr val="FFF3E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14476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55A2B"/>
                </a:solidFill>
              </a:rPr>
              <a:t>"微光守护" 让听障人士也能 "感知" 到世界的声音 — 用 AI 的微光，守护无声世界的安全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听障人士面临的六大核心安全痛点 — 覆盖日常生活的每个高危场景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4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BF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35204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234440"/>
            <a:ext cx="45720" cy="2286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听不见闹钟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传统声音闹钟完全无效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错过重要日程，影响正常工作生活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06324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FFC145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063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9"/>
                </a:solidFill>
              </a:rPr>
              <a:t>中风险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BF5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234440"/>
            <a:ext cx="352044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400" y="1234440"/>
            <a:ext cx="45720" cy="2286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2628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听不见火警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生命安全受严重威胁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火灾警报无法感知，逃生窗口期极短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306324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3063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9"/>
                </a:solidFill>
              </a:rPr>
              <a:t>极高风险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BF5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1234440"/>
            <a:ext cx="352044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1234440"/>
            <a:ext cx="45720" cy="2286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💨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32104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感知不到燃气泄漏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中毒和爆炸风险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低频异响无法察觉，夜间睡眠时最危险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35440" y="306324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EF476F"/>
          </a:solidFill>
          <a:ln/>
        </p:spPr>
      </p:sp>
      <p:sp>
        <p:nvSpPr>
          <p:cNvPr id="31" name="Text 29"/>
          <p:cNvSpPr/>
          <p:nvPr/>
        </p:nvSpPr>
        <p:spPr>
          <a:xfrm>
            <a:off x="9235440" y="3063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9"/>
                </a:solidFill>
              </a:rPr>
              <a:t>极高风险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BF5"/>
          </a:solidFill>
          <a:ln w="19050">
            <a:solidFill>
              <a:srgbClr val="D93D5E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840480"/>
            <a:ext cx="3520440" cy="54864"/>
          </a:xfrm>
          <a:prstGeom prst="rect">
            <a:avLst/>
          </a:prstGeom>
          <a:solidFill>
            <a:srgbClr val="D93D5E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3840480"/>
            <a:ext cx="45720" cy="2286000"/>
          </a:xfrm>
          <a:prstGeom prst="rect">
            <a:avLst/>
          </a:prstGeom>
          <a:solidFill>
            <a:srgbClr val="D93D5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023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🚪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3152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察觉不到异常敲门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" y="4937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居家安全存隐患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无法分辨敲门类型，陌生人侵入风险高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0" y="56692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EF476F"/>
          </a:solidFill>
          <a:ln/>
        </p:spPr>
      </p:sp>
      <p:sp>
        <p:nvSpPr>
          <p:cNvPr id="39" name="Text 37"/>
          <p:cNvSpPr/>
          <p:nvPr/>
        </p:nvSpPr>
        <p:spPr>
          <a:xfrm>
            <a:off x="1645920" y="56692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9"/>
                </a:solidFill>
              </a:rPr>
              <a:t>高风险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4340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BF5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43400" y="3840480"/>
            <a:ext cx="352044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2" name="Shape 40"/>
          <p:cNvSpPr/>
          <p:nvPr/>
        </p:nvSpPr>
        <p:spPr>
          <a:xfrm>
            <a:off x="4343400" y="3840480"/>
            <a:ext cx="45720" cy="22860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023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🩺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452628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健康监测缺失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617720" y="4937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病理性咳嗽难以评估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缺乏健康预警手段，延误就医时机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0680" y="56692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FFC145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56692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9"/>
                </a:solidFill>
              </a:rPr>
              <a:t>中风险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3816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BF5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38160" y="3840480"/>
            <a:ext cx="352044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8160" y="3840480"/>
            <a:ext cx="45720" cy="2286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4023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🆘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832104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跌倒无法呼救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412480" y="4937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错过黄金救援时间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无法语音呼叫求助，独居时最危险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235440" y="56692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EF476F"/>
          </a:solidFill>
          <a:ln/>
        </p:spPr>
      </p:sp>
      <p:sp>
        <p:nvSpPr>
          <p:cNvPr id="55" name="Text 53"/>
          <p:cNvSpPr/>
          <p:nvPr/>
        </p:nvSpPr>
        <p:spPr>
          <a:xfrm>
            <a:off x="9235440" y="56692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DF9"/>
                </a:solidFill>
              </a:rPr>
              <a:t>极高风险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612648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D93D5E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六大痛点覆盖听障人士 24 小时生活场景，每一个都可能危及生命 — 无声世界的安全，刻不容缓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AI 多模态安全预警系统 — 六大核心模块，全场景守护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5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54864" cy="2286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234440"/>
            <a:ext cx="352044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触觉唤醒引擎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振动 + 闪光双通道唤醒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三种振动模式 · 双重关闭验证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确保重要日程不遗漏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80160" y="3246120"/>
            <a:ext cx="20574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234440"/>
            <a:ext cx="54864" cy="2286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1234440"/>
            <a:ext cx="3520440" cy="3657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火灾声纹预警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17720" y="2286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CNN + Mel 频谱图识别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准确率 &gt;95% · 全屏红色预警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TTS 语音 + 振动双重提醒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3246120"/>
            <a:ext cx="2057400" cy="2743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9050">
            <a:solidFill>
              <a:srgbClr val="FFC14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234440"/>
            <a:ext cx="54864" cy="2286000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1234440"/>
            <a:ext cx="3520440" cy="36576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36676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燃气泄漏预警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2286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8kHz 低频 MFCC 检测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轻量 CNN &lt;500K · 四步处置指南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联动物业紧急联系人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3246120"/>
            <a:ext cx="2057400" cy="27432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840480"/>
            <a:ext cx="54864" cy="22860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840480"/>
            <a:ext cx="35204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77240" y="4480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咳嗽健康监测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" y="48920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15 秒滑窗 ≥5 次触发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三级预警 · 健康闭环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辅助就医判断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280160" y="5852160"/>
            <a:ext cx="2057400" cy="2743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43400" y="38404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Shape 36"/>
          <p:cNvSpPr/>
          <p:nvPr/>
        </p:nvSpPr>
        <p:spPr>
          <a:xfrm>
            <a:off x="4343400" y="3840480"/>
            <a:ext cx="35204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448056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572000" y="4480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敲门安防预警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617720" y="48920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3 秒密度分析算法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七级安全评估 · 手语沟通面板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识别敲门人身份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74920" y="5852160"/>
            <a:ext cx="205740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Shape 41"/>
          <p:cNvSpPr/>
          <p:nvPr/>
        </p:nvSpPr>
        <p:spPr>
          <a:xfrm>
            <a:off x="813816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38160" y="384048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Shape 43"/>
          <p:cNvSpPr/>
          <p:nvPr/>
        </p:nvSpPr>
        <p:spPr>
          <a:xfrm>
            <a:off x="8138160" y="3840480"/>
            <a:ext cx="35204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🆘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8366760" y="4480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跌倒检测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412480" y="48920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传感器 + 摄像头双重确认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30 秒自动派发应急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TTS 自动呼救播报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869680" y="5852160"/>
            <a:ext cx="205740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612648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E55A2B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</a:rPr>
              <a:t>六大模块  ·  100% 端侧推理  ·  零网络依赖  ·  离线可用  ·  数据不出手机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手势识别与双向手语交互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11 种手势实时识别 · 100% 端侧推理 · 识别速度 &lt; 1ms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6 / 15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4592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✊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握拳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SOS 紧急求助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手掌张开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 / 问候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竖大拇指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 / 好的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👎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拇指朝下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不好 / 拒绝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☝️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食指指向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指向方向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✌️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剪刀手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胜利 / 和平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 手势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摆手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你好 / 再见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谢谢 / 爱你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打电话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联系我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无手势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待机状态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234440"/>
            <a:ext cx="5852160" cy="5029200"/>
          </a:xfrm>
          <a:prstGeom prst="roundRect">
            <a:avLst>
              <a:gd name="adj" fmla="val 2182"/>
            </a:avLst>
          </a:prstGeom>
          <a:solidFill>
            <a:srgbClr val="FFFBF5"/>
          </a:solidFill>
          <a:ln w="12700">
            <a:solidFill>
              <a:srgbClr val="C4B5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A2B"/>
                </a:solidFill>
              </a:rPr>
              <a:t>核心技术指标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929384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856232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MediaPipe Hand Landmarker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92240" y="207568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21 点手部关键点检测，Google 开源模型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72200" y="2459736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386584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GestureVectorDB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92240" y="260604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自研手势质心向量数据库，余弦相似度匹配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2990088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2916936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识别速度 &lt; 1ms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92240" y="313639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100 个质心向量余弦相似度计算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72200" y="352044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44728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100% 端侧推理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92240" y="366674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无网络依赖，隐私数据不出设备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72200" y="4050792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6492240" y="3977640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SOS 握拳自动触发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92240" y="419709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TTS 语音播报 + 紧急联系人通知 + 10 秒防重复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72200" y="4581144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4"/>
          <p:cNvSpPr/>
          <p:nvPr/>
        </p:nvSpPr>
        <p:spPr>
          <a:xfrm>
            <a:off x="6492240" y="4507992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双向手语交互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92240" y="47274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手势 → 文字 识别 + 文字 → 手语 动画生成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72200" y="5111496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7"/>
          <p:cNvSpPr/>
          <p:nvPr/>
        </p:nvSpPr>
        <p:spPr>
          <a:xfrm>
            <a:off x="6492240" y="5038344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增量更新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492240" y="52578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支持 100+ 手势扩展，无需重新安装 APP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172200" y="5641848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5568696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2C2C"/>
                </a:solidFill>
              </a:rPr>
              <a:t>80+ 商品词库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492240" y="578815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B7B"/>
                </a:solidFill>
              </a:rPr>
              <a:t>OCR 商品识别，辅助购物独立生活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 · 真机展示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产品实际运行效果 — 五大核心模块在手机上的真实呈现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7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194560" cy="5303520"/>
          </a:xfrm>
          <a:prstGeom prst="roundRect">
            <a:avLst>
              <a:gd name="adj" fmla="val 5000"/>
            </a:avLst>
          </a:prstGeom>
          <a:solidFill>
            <a:srgbClr val="FFFBF5"/>
          </a:solidFill>
          <a:ln w="12700">
            <a:solidFill>
              <a:srgbClr val="FF8C5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2194560" cy="36576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0" name="Image 0" descr="f:/java/weiguangplus/weiguang123/ppt_workspace/screenshots/phone_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371600"/>
            <a:ext cx="2011680" cy="3840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5349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5A2B"/>
                </a:solidFill>
              </a:rPr>
              <a:t>首页 / 主界面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5669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六大模块入口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状态栏实时监控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51760" y="1188720"/>
            <a:ext cx="2194560" cy="5303520"/>
          </a:xfrm>
          <a:prstGeom prst="roundRect">
            <a:avLst>
              <a:gd name="adj" fmla="val 5000"/>
            </a:avLst>
          </a:prstGeom>
          <a:solidFill>
            <a:srgbClr val="FFFBF5"/>
          </a:solidFill>
          <a:ln w="12700">
            <a:solidFill>
              <a:srgbClr val="FF8C5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51760" y="1188720"/>
            <a:ext cx="2194560" cy="36576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5" name="Image 1" descr="f:/java/weiguangplus/weiguang123/ppt_workspace/screenshots/phone_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371600"/>
            <a:ext cx="2011680" cy="3840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97480" y="5349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5A2B"/>
                </a:solidFill>
              </a:rPr>
              <a:t>火灾预警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43200" y="5669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CNN 声纹识别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全屏红色预警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983480" y="1188720"/>
            <a:ext cx="2194560" cy="5303520"/>
          </a:xfrm>
          <a:prstGeom prst="roundRect">
            <a:avLst>
              <a:gd name="adj" fmla="val 5000"/>
            </a:avLst>
          </a:prstGeom>
          <a:solidFill>
            <a:srgbClr val="FFFBF5"/>
          </a:solidFill>
          <a:ln w="12700">
            <a:solidFill>
              <a:srgbClr val="FF8C5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83480" y="1188720"/>
            <a:ext cx="2194560" cy="36576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2" descr="f:/java/weiguangplus/weiguang123/ppt_workspace/screenshots/phone_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74920" y="1371600"/>
            <a:ext cx="2011680" cy="3840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9200" y="5349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5A2B"/>
                </a:solidFill>
              </a:rPr>
              <a:t>燃气泄漏预警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74920" y="5669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MFCC 低频检测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四步处置指南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315200" y="1188720"/>
            <a:ext cx="2194560" cy="5303520"/>
          </a:xfrm>
          <a:prstGeom prst="roundRect">
            <a:avLst>
              <a:gd name="adj" fmla="val 5000"/>
            </a:avLst>
          </a:prstGeom>
          <a:solidFill>
            <a:srgbClr val="FFFBF5"/>
          </a:solidFill>
          <a:ln w="12700">
            <a:solidFill>
              <a:srgbClr val="FF8C5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0" y="1188720"/>
            <a:ext cx="2194560" cy="36576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5" name="Image 3" descr="f:/java/weiguangplus/weiguang123/ppt_workspace/screenshots/phone_0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6640" y="1371600"/>
            <a:ext cx="2011680" cy="3840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5349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5A2B"/>
                </a:solidFill>
              </a:rPr>
              <a:t>手势识别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06640" y="5669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11 种手势实时识别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SOS 握拳自动触发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9646920" y="1188720"/>
            <a:ext cx="2194560" cy="5303520"/>
          </a:xfrm>
          <a:prstGeom prst="roundRect">
            <a:avLst>
              <a:gd name="adj" fmla="val 5000"/>
            </a:avLst>
          </a:prstGeom>
          <a:solidFill>
            <a:srgbClr val="FFFBF5"/>
          </a:solidFill>
          <a:ln w="12700">
            <a:solidFill>
              <a:srgbClr val="FF8C5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646920" y="1188720"/>
            <a:ext cx="2194560" cy="36576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0" name="Image 4" descr="f:/java/weiguangplus/weiguang123/ppt_workspace/screenshots/phone_0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738360" y="1371600"/>
            <a:ext cx="2011680" cy="3840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92640" y="5349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5A2B"/>
                </a:solidFill>
              </a:rPr>
              <a:t>敲门检测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738360" y="5669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密度分析算法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7B7B"/>
                </a:solidFill>
              </a:rPr>
              <a:t>七级安全评估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57200" y="6263640"/>
            <a:ext cx="11274552" cy="320040"/>
          </a:xfrm>
          <a:prstGeom prst="roundRect">
            <a:avLst>
              <a:gd name="adj" fmla="val 17143"/>
            </a:avLst>
          </a:prstGeom>
          <a:solidFill>
            <a:srgbClr val="FFF3E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55A2B"/>
                </a:solidFill>
              </a:rPr>
              <a:t>技术栈：MediaPipe Hand Landmarker · TensorFlow Lite · CNN 声纹识别 · MFCC 音频分析 · WeiGuang-Secure 加密引擎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端侧 AI + 零知识加密 + 离线优先 — 四层架构设计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8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234440"/>
            <a:ext cx="9966960" cy="960120"/>
          </a:xfrm>
          <a:prstGeom prst="roundRect">
            <a:avLst>
              <a:gd name="adj" fmla="val 9524"/>
            </a:avLst>
          </a:prstGeom>
          <a:solidFill>
            <a:srgbClr val="FFFDF9"/>
          </a:solidFill>
          <a:ln w="317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23444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234440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应用层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Jetpack Compose + Material3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1709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B7B"/>
                </a:solidFill>
              </a:rPr>
              <a:t>6 大模块统一设计语言 · 适配 Android 7.0+ · 无障碍交互优化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2423160"/>
            <a:ext cx="9966960" cy="960120"/>
          </a:xfrm>
          <a:prstGeom prst="roundRect">
            <a:avLst>
              <a:gd name="adj" fmla="val 9524"/>
            </a:avLst>
          </a:prstGeom>
          <a:solidFill>
            <a:srgbClr val="FFFDF9"/>
          </a:solidFill>
          <a:ln w="31750">
            <a:solidFill>
              <a:srgbClr val="5B8DE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0" y="242316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423160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AI 推理层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TensorFlow Lite + ONNX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51760" y="2898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B7B"/>
                </a:solidFill>
              </a:rPr>
              <a:t>CNN / RNN 端侧推理 · INT8 量化 &lt;2MB · 离线运行 · 推理速度 &lt;50ms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97280" y="3611880"/>
            <a:ext cx="9966960" cy="960120"/>
          </a:xfrm>
          <a:prstGeom prst="roundRect">
            <a:avLst>
              <a:gd name="adj" fmla="val 9524"/>
            </a:avLst>
          </a:prstGeom>
          <a:solidFill>
            <a:srgbClr val="FFFDF9"/>
          </a:solidFill>
          <a:ln w="31750">
            <a:solidFill>
              <a:srgbClr val="06A77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7280" y="361188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06A77D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611880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数据层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Room + SQLite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51760" y="4087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B7B"/>
                </a:solidFill>
              </a:rPr>
              <a:t>本地持久化存储 · 手势向量库 · 数据不出设备 · WiFi 仅用于密文同步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7280" y="4800600"/>
            <a:ext cx="9966960" cy="960120"/>
          </a:xfrm>
          <a:prstGeom prst="roundRect">
            <a:avLst>
              <a:gd name="adj" fmla="val 9524"/>
            </a:avLst>
          </a:prstGeom>
          <a:solidFill>
            <a:srgbClr val="FFFDF9"/>
          </a:solidFill>
          <a:ln w="31750">
            <a:solidFill>
              <a:srgbClr val="EF476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" y="480060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EF476F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800600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安全层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2C"/>
                </a:solidFill>
              </a:rPr>
              <a:t>WeiGuang-Secure 加密引擎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51760" y="5276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7B7B"/>
                </a:solidFill>
              </a:rPr>
              <a:t>ECDH X25519 + AES-256-GCM · 零知识架构 · 服务端不可解密 · 生物特征绑定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9728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A2B"/>
                </a:solidFill>
              </a:rPr>
              <a:t>端侧推理优势对比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5778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2918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云端推理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端侧推理（本项目）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网络依赖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必须联网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零网络依赖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A2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2C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C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100-500ms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50ms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2C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隐私保护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C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数据上传云端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数据不出设备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2C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C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持续服务费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零运营成本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DF9"/>
                </a:solidFill>
              </a:rPr>
              <a:t>WeiGuang-Secure 端到端加密引擎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B7B"/>
                </a:solidFill>
              </a:rPr>
              <a:t>零知识架构 · NIST STS + Wycheproof 权威验证 · 服务端不可解密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960120"/>
            <a:ext cx="3044952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9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3D241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45720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9"/>
                </a:solidFill>
              </a:rPr>
              <a:t>ECDH + RSA 混合密钥交换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5361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7B7B"/>
                </a:solidFill>
              </a:rPr>
              <a:t>X25519 为主 · RSA-2048 降级 · 预留 Kyber 抗量子接口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0" y="12984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B5"/>
                </a:solidFill>
              </a:rPr>
              <a:t>X25519 256 bits · ECDHE 前向安全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938528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3D2418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38528"/>
            <a:ext cx="45720" cy="65836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0665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066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1984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9"/>
                </a:solidFill>
              </a:rPr>
              <a:t>AES-GCM + ChaCha20 双引擎加密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2860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7B7B"/>
                </a:solidFill>
              </a:rPr>
              <a:t>高端 AES-NI 加速 · 低端 ChaCha20 抗侧信道 · GCM-SIV 抗误用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32320" y="20482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B5"/>
                </a:solidFill>
              </a:rPr>
              <a:t>256 bits · 128-bit 标签 · 自适应引擎切换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88336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3D2418"/>
          </a:solidFill>
          <a:ln w="19050">
            <a:solidFill>
              <a:srgbClr val="06A7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88336"/>
            <a:ext cx="45720" cy="658368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28163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6A77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816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27340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9"/>
                </a:solidFill>
              </a:rPr>
              <a:t>Keystore TEE + 生物特征绑定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0358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7B7B"/>
                </a:solidFill>
              </a:rPr>
              <a:t>硬件隔离存储 · 指纹/人脸门控 · 手机丢失无法解密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27980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B5"/>
                </a:solidFill>
              </a:rPr>
              <a:t>不可导出 · root 免疫 · 每次操作独立认证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52"/>
                </a:solidFill>
              </a:rPr>
              <a:t>五大核心升级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3D241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9"/>
                </a:solidFill>
              </a:rPr>
              <a:t>ECDH (X25519)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7B7B"/>
                </a:solidFill>
              </a:rPr>
              <a:t>前向安全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0" y="38862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3D2418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3464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9"/>
                </a:solidFill>
              </a:rPr>
              <a:t>ChaCha20 引擎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34640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7B7B"/>
                </a:solidFill>
              </a:rPr>
              <a:t>低端机 +50%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29200" y="38862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3D2418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2064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9"/>
                </a:solidFill>
              </a:rPr>
              <a:t>GCM-SIV 抗误用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20640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7B7B"/>
                </a:solidFill>
              </a:rPr>
              <a:t>IV 重复不泄露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315200" y="38862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3D241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🫵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0664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9"/>
                </a:solidFill>
              </a:rPr>
              <a:t>生物特征绑定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06640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7B7B"/>
                </a:solidFill>
              </a:rPr>
              <a:t>丢失无法解密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601200" y="38862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3D241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🔮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9264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9"/>
                </a:solidFill>
              </a:rPr>
              <a:t>Kyber 抗量子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692640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7B7B"/>
                </a:solidFill>
              </a:rPr>
              <a:t>量子时代预备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57200" y="49377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52"/>
                </a:solidFill>
              </a:rPr>
              <a:t>雪崩效应测试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6636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20116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测试类型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密钥雪崩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49.98%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明文雪崩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50.04%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IV 雪崩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49.96%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1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认证标签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 不匹配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</a:tr>
            </a:tbl>
          </a:graphicData>
        </a:graphic>
      </p:graphicFrame>
      <p:sp>
        <p:nvSpPr>
          <p:cNvPr id="52" name="Text 49"/>
          <p:cNvSpPr/>
          <p:nvPr/>
        </p:nvSpPr>
        <p:spPr>
          <a:xfrm>
            <a:off x="5486400" y="49377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52"/>
                </a:solidFill>
              </a:rPr>
              <a:t>密钥轮换安全收益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5166360"/>
          <a:ext cx="6217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30175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无轮换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密钥泄露影响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全部数据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5 分钟窗口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攻击时间窗口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无限期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 5 分钟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暴力破解成本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D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破解一次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6A7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5 分钟一次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418"/>
                    </a:solidFill>
                  </a:tcPr>
                </a:tc>
              </a:tr>
            </a:tbl>
          </a:graphicData>
        </a:graphic>
      </p:graphicFrame>
      <p:sp>
        <p:nvSpPr>
          <p:cNvPr id="54" name="Shape 50"/>
          <p:cNvSpPr/>
          <p:nvPr/>
        </p:nvSpPr>
        <p:spPr>
          <a:xfrm>
            <a:off x="457200" y="6172200"/>
            <a:ext cx="11274552" cy="347472"/>
          </a:xfrm>
          <a:prstGeom prst="roundRect">
            <a:avLst>
              <a:gd name="adj" fmla="val 15789"/>
            </a:avLst>
          </a:prstGeom>
          <a:solidFill>
            <a:srgbClr val="3D2418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40080" y="6199632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B5"/>
                </a:solidFill>
              </a:rPr>
              <a:t>安全结论：服务端看不到 · 黑客攻不破 · 丢失读不了 — 真正实现零知识安全目标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项目创新亮点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五大核心技术 + 三大模式创新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10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BF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344168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441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325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WeiGuang-Secure 加密引擎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67335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ECDH + AES-GCM/ChaCha20 双引擎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NIST STS + Wycheproof 权威验证 · 零知识架构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BF5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54864" cy="13716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944368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5B8DE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926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GestureVectorDB 手势向量库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27355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11 种手势质心向量存储匹配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余弦相似度 &lt;1ms · 100+ 手势增量更新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BF5"/>
          </a:solidFill>
          <a:ln w="19050">
            <a:solidFill>
              <a:srgbClr val="06A77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34840"/>
            <a:ext cx="54864" cy="13716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544568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06A77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44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526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端侧 AI 全离线推理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87375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CNN / RNN INT8 量化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模型 &lt;2MB · 推理 &lt;50ms · 100% 本地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2344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BF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23444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1344168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3441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1325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多模态融合检测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167335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传感器 + 摄像头双重确认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音频 + 振动 + 视觉三通道联合预警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834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BF5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2834640"/>
            <a:ext cx="54864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2944368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32320" y="2926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C"/>
                </a:solidFill>
              </a:rPr>
              <a:t>双向手语交互系统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0" y="327355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手势 → 文字：实时识别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文字 → 手势：动画生成 · SOS 自动 TTS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A2B"/>
                </a:solidFill>
              </a:rPr>
              <a:t>模式创新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16636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212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9"/>
                </a:solidFill>
              </a:rPr>
              <a:t>离线优先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DF9"/>
                </a:solidFill>
              </a:rPr>
              <a:t>核心功能 100% 离线运行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516636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EF476F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0" y="5212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9"/>
                </a:solidFill>
              </a:rPr>
              <a:t>隐私保护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976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DF9"/>
                </a:solidFill>
              </a:rPr>
              <a:t>零知识架构，数据由用户掌控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46720" y="516636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6A77D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5212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9"/>
                </a:solidFill>
              </a:rPr>
              <a:t>开源策略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4672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DF9"/>
                </a:solidFill>
              </a:rPr>
              <a:t>核心算法 Apache 2.0 开源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商业模式与市场策略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B2B2C + 免费增值，三线并行覆盖目标用户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11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DF9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25880"/>
            <a:ext cx="26517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600200"/>
            <a:ext cx="1097280" cy="10972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600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残联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C2C"/>
                </a:solidFill>
              </a:rPr>
              <a:t>残联 / 社区合作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与各地残联、社区服务中心合作推广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政府采购或补贴模式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3258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DF9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325880"/>
            <a:ext cx="265176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1600200"/>
            <a:ext cx="1097280" cy="109728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1600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增值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C2C"/>
                </a:solidFill>
              </a:rPr>
              <a:t>免费增值模式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基础功能免费，高级功能付费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唤醒 + 火灾 + 燃气免费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3258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DF9"/>
          </a:solidFill>
          <a:ln w="19050">
            <a:solidFill>
              <a:srgbClr val="06A77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325880"/>
            <a:ext cx="2651760" cy="54864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6600" y="1600200"/>
            <a:ext cx="1097280" cy="1097280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600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预装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C2C"/>
                </a:solidFill>
              </a:rPr>
              <a:t>硬件预装合作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与手机厂商 / 智能家居品牌合作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系统级预装，触达更多用户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9720" y="13258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DF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89720" y="132588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9966960" y="1600200"/>
            <a:ext cx="1097280" cy="10972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1600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开源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C2C"/>
                </a:solidFill>
              </a:rPr>
              <a:t>开源社区生态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核心算法 Apache 2.0 开源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吸引开发者贡献，接受安全审计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55A2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</a:rPr>
              <a:t>目标市场：2700 万+ 听障人士  ×  零竞品蓝海市场  ×  国家科技助残政策红利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200400" y="6080760"/>
            <a:ext cx="5788152" cy="365760"/>
          </a:xfrm>
          <a:prstGeom prst="roundRect">
            <a:avLst>
              <a:gd name="adj" fmla="val 50000"/>
            </a:avLst>
          </a:prstGeom>
          <a:solidFill>
            <a:srgbClr val="FFF3E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608076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5A2B"/>
                </a:solidFill>
              </a:rPr>
              <a:t>演示站：http://47.108.149.191/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微光科技 · 用 AI 的微光，守护无声世界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12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BF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25880"/>
            <a:ext cx="26517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600200"/>
            <a:ext cx="1280160" cy="1280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600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DF9"/>
                </a:solidFill>
              </a:rPr>
              <a:t>蒲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C2C"/>
                </a:solidFill>
              </a:rPr>
              <a:t>蒲  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352044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20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项目负责人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整体规划 · 技术架构 · 加密算法设计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132588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BF5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325880"/>
            <a:ext cx="265176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0" y="1600200"/>
            <a:ext cx="1280160" cy="12801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1600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DF9"/>
                </a:solidFill>
              </a:rPr>
              <a:t>代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56616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C2C"/>
                </a:solidFill>
              </a:rPr>
              <a:t>代江宁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86200" y="352044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5B8DEF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3520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AI 算法工程师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AI 模型训练 · TFLite 部署 · 手势识别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32588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BF5"/>
          </a:solidFill>
          <a:ln w="19050">
            <a:solidFill>
              <a:srgbClr val="06A77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325880"/>
            <a:ext cx="2651760" cy="54864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1600200"/>
            <a:ext cx="1280160" cy="1280160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600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DF9"/>
                </a:solidFill>
              </a:rPr>
              <a:t>王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44652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C2C"/>
                </a:solidFill>
              </a:rPr>
              <a:t>王慧平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766560" y="352044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06A77D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520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Android 开发工程师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客户端开发 · UI 设计 · 无障碍交互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89720" y="132588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BF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89720" y="132588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Shape 32"/>
          <p:cNvSpPr/>
          <p:nvPr/>
        </p:nvSpPr>
        <p:spPr>
          <a:xfrm>
            <a:off x="9875520" y="1600200"/>
            <a:ext cx="1280160" cy="1280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0" y="1600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DF9"/>
                </a:solidFill>
              </a:rPr>
              <a:t>黄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93268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C2C"/>
                </a:solidFill>
              </a:rPr>
              <a:t>黄浙洋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646920" y="352044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9646920" y="3520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9"/>
                </a:solidFill>
              </a:rPr>
              <a:t>产品 / 市场负责人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B7B"/>
                </a:solidFill>
              </a:rPr>
              <a:t>产品规划 · 用户调研 · 市场推广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B7B"/>
                </a:solidFill>
              </a:rPr>
              <a:t>所属单位：天府新区通用航空职业学院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DF9"/>
                </a:solidFill>
              </a:rPr>
              <a:t>社会效益与影响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B7B"/>
                </a:solidFill>
              </a:rPr>
              <a:t>用科技创新消除听障人士的生活障碍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960120"/>
            <a:ext cx="3044952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13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3D2418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352044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</a:rPr>
              <a:t>生命安全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火灾预警、燃气泄漏预警、跌倒检测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直接保护听障人士生命安全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2344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3D2418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234440"/>
            <a:ext cx="35204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26280" y="1920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</a:rPr>
              <a:t>生活质量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22860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闹钟唤醒、敲门识别、健康监测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提升日常生活便利性与独立性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2344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3D2418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234440"/>
            <a:ext cx="352044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417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321040" y="1920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</a:rPr>
              <a:t>社会融入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22860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手势识别、双向手语交互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帮助听障人士更好地与外界沟通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3D2418"/>
          </a:solidFill>
          <a:ln w="19050">
            <a:solidFill>
              <a:srgbClr val="06A77D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749040"/>
            <a:ext cx="3520440" cy="54864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31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</a:rPr>
              <a:t>隐私保护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零知识加密架构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确保用户数据安全，树立科技向善典范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3D2418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3749040"/>
            <a:ext cx="35204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343400" y="3931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26280" y="4434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</a:rPr>
              <a:t>行业推动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26280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核心算法 Apache 2.0 开源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推动科技助残行业技术进步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3D2418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8160" y="3749040"/>
            <a:ext cx="35204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3931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321040" y="4434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</a:rPr>
              <a:t>大赛契合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21040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"科创无碍，智享生活"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B5B5"/>
                </a:solidFill>
              </a:rPr>
              <a:t>AI 创新消除听障生活障碍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7B"/>
                </a:solidFill>
              </a:rPr>
              <a:t>三步走战略 — 从产品打磨到生态构建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7B7B"/>
                </a:solidFill>
              </a:rPr>
              <a:t>14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BF5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25880"/>
            <a:ext cx="35204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60020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6002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第一阶段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2026 - 2027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C2C"/>
                </a:solidFill>
              </a:rPr>
              <a:t>产品打磨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2971800"/>
            <a:ext cx="205740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3255264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完成 6 大模块产品化开发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88720" y="363931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通过残联渠道小范围试点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88720" y="402336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收集用户反馈迭代优化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88720" y="440740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完善无障碍交互体验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13258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BF5"/>
          </a:solidFill>
          <a:ln w="25400">
            <a:solidFill>
              <a:srgbClr val="5B8DE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43400" y="1325880"/>
            <a:ext cx="352044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160020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5B8DE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6002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第二阶段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43400" y="2194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EF"/>
                </a:solidFill>
              </a:rPr>
              <a:t>2027 - 2028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4340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C2C"/>
                </a:solidFill>
              </a:rPr>
              <a:t>规模推广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74920" y="2971800"/>
            <a:ext cx="205740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30" name="Shape 28"/>
          <p:cNvSpPr/>
          <p:nvPr/>
        </p:nvSpPr>
        <p:spPr>
          <a:xfrm>
            <a:off x="4983480" y="3255264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与各省残联建立合作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3639312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上线应用商店免费下载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83480" y="4023360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开源核心算法社区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4407408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建立用户社群运营体系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13258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BF5"/>
          </a:solidFill>
          <a:ln w="25400">
            <a:solidFill>
              <a:srgbClr val="06A77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38160" y="1325880"/>
            <a:ext cx="3520440" cy="54864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40" name="Shape 38"/>
          <p:cNvSpPr/>
          <p:nvPr/>
        </p:nvSpPr>
        <p:spPr>
          <a:xfrm>
            <a:off x="8686800" y="160020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06A77D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0" y="16002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</a:rPr>
              <a:t>第三阶段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138160" y="2194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A77D"/>
                </a:solidFill>
              </a:rPr>
              <a:t>2028 - 2029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2C2C"/>
                </a:solidFill>
              </a:rPr>
              <a:t>生态构建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869680" y="2971800"/>
            <a:ext cx="2057400" cy="18288"/>
          </a:xfrm>
          <a:prstGeom prst="rect">
            <a:avLst/>
          </a:prstGeom>
          <a:solidFill>
            <a:srgbClr val="C4B5B5"/>
          </a:solidFill>
          <a:ln/>
        </p:spPr>
      </p:sp>
      <p:sp>
        <p:nvSpPr>
          <p:cNvPr id="45" name="Shape 43"/>
          <p:cNvSpPr/>
          <p:nvPr/>
        </p:nvSpPr>
        <p:spPr>
          <a:xfrm>
            <a:off x="8778240" y="3255264"/>
            <a:ext cx="164592" cy="164592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46" name="Text 44"/>
          <p:cNvSpPr/>
          <p:nvPr/>
        </p:nvSpPr>
        <p:spPr>
          <a:xfrm>
            <a:off x="90982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拓展硬件预装合作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778240" y="3639312"/>
            <a:ext cx="164592" cy="164592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48" name="Text 46"/>
          <p:cNvSpPr/>
          <p:nvPr/>
        </p:nvSpPr>
        <p:spPr>
          <a:xfrm>
            <a:off x="909828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智能家居 IoT 联动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778240" y="4023360"/>
            <a:ext cx="164592" cy="164592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50" name="Text 48"/>
          <p:cNvSpPr/>
          <p:nvPr/>
        </p:nvSpPr>
        <p:spPr>
          <a:xfrm>
            <a:off x="909828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AI 手语翻译深度研发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778240" y="4407408"/>
            <a:ext cx="164592" cy="164592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52" name="Text 50"/>
          <p:cNvSpPr/>
          <p:nvPr/>
        </p:nvSpPr>
        <p:spPr>
          <a:xfrm>
            <a:off x="909828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C2C"/>
                </a:solidFill>
              </a:rPr>
              <a:t>打造听障服务生态平台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635000" dist="50800" dir="16200000">
              <a:srgbClr val="FF6B35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FFC145"/>
          </a:solidFill>
          <a:ln/>
          <a:effectLst>
            <a:outerShdw sx="100000" sy="100000" kx="0" ky="0" algn="bl" rotWithShape="0" blurRad="381000" dist="50800" dir="16200000">
              <a:srgbClr val="FFC145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DF9"/>
                </a:solidFill>
              </a:rPr>
              <a:t>感谢聆听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8C52"/>
                </a:solidFill>
              </a:rPr>
              <a:t>微光守护 — AI 多模态无声安全预警系统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2926080"/>
            <a:ext cx="4873752" cy="27432"/>
          </a:xfrm>
          <a:prstGeom prst="rect">
            <a:avLst/>
          </a:prstGeom>
          <a:solidFill>
            <a:srgbClr val="FFC1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4B5B5"/>
                </a:solidFill>
              </a:rPr>
              <a:t>以 AI 之手，搭建听障人士与世界沟通的桥梁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9"/>
                </a:solidFill>
              </a:rPr>
              <a:t>微光科技（WeiGuang Tech）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7B7B"/>
                </a:solidFill>
              </a:rPr>
              <a:t>天府新区通用航空职业学院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5212080"/>
            <a:ext cx="3959352" cy="411480"/>
          </a:xfrm>
          <a:prstGeom prst="roundRect">
            <a:avLst>
              <a:gd name="adj" fmla="val 44444"/>
            </a:avLst>
          </a:prstGeom>
          <a:solidFill>
            <a:srgbClr val="3D241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5212080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C52"/>
                </a:solidFill>
              </a:rPr>
              <a:t>演示站：http://47.108.149.191/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8521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7B"/>
                </a:solidFill>
              </a:rPr>
              <a:t>核心算法开源：Apache 2.0  |  2026 年 7 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微光守护 - AI 之手 搭建听障人士与世界沟通的桥梁</dc:title>
  <dc:subject>PptxGenJS Presentation</dc:subject>
  <dc:creator>微光科技</dc:creator>
  <cp:lastModifiedBy>微光科技</cp:lastModifiedBy>
  <cp:revision>1</cp:revision>
  <dcterms:created xsi:type="dcterms:W3CDTF">2026-07-30T08:24:15Z</dcterms:created>
  <dcterms:modified xsi:type="dcterms:W3CDTF">2026-07-30T08:24:15Z</dcterms:modified>
</cp:coreProperties>
</file>