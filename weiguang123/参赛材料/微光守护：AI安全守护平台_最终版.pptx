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32" y="57"/>
      </p:cViewPr>
      <p:guideLst>
        <p:guide orient="horz" pos="165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notesMaster" Target="notesMasters/notesMaster1.xml"/><Relationship Id="rId34" Type="http://schemas.openxmlformats.org/officeDocument/2006/relationships/tags" Target="tags/tag8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将向大家介绍一个旨在用科技传递温暖的项目——“微光守护”。我们的目标是“以AI之手”，为听障人士搭建一座与世界沟通的桥梁。这是一款创新的AI多模态无声安全健康预警系统，由微光科技与天府新区通用航空职业学院联合打造，致力于解决听障群体在日常生活中面临的安全与健康挑战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将围绕以下十二个方面展开。首先，我们将介绍项目的整体情况；接着，深入分析听障人士面临的核心痛点；然后，详细阐述我们的产品方案、核心技术及应用展示；之后，我们会介绍技术架构、加盟模式、创新亮点和商业模式；最后，展示我们的核心团队、项目的社会效益以及未来的发展规划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首先，让我们进入第一部分：项目简介。在这里，我们将全面了解“微光守护”项目的背景、目标以及它所承载的社会意义。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“微光守护”是一个专为听障人士打造的全场景AI安全守护平台。我们聚焦于全国超过2700万听障人士面临的六大核心安全痛点。我们的产品通过AI多模态感知技术，将传统的声音预警转化为用户可以感知的触觉和视觉信号。所有计算都在手机端完成，无需联网，确保了用户的隐私安全。我们覆盖了睡眠、火灾、燃气等六大日常场景，并具备零知识加密、离线可用等核心优势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接下来，我们将深入分析听障人士在日常生活中面临的具体风险，这些被忽视的“无声困境”正是我们项目所要解决的核心问题。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识别出六大核心安全痛点。首先是“听不见闹钟”，这直接影响他们的日常生活节奏。其次是“听不见火警”和“感知不到燃气泄漏”，这两种情况都可能危及生命。此外，“察觉不到异常敲门”带来了安防隐患，“健康监控缺失”意味着突发疾病可能被延误，而“跌倒无法呼救”则是独居听障人士最大的恐惧之一。这些痛点构成了我们产品设计的出发点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针对以上痛点，我们设计了全方位的产品解决方案。在第三部分，我将为大家详细介绍我们的产品功能。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产品方案包含六大核心模块，形成一个全天候的守护网络。“触觉唤醒引擎”通过强力振动和闪光确保用户能被及时唤醒。“火灾声纹报警”和“燃气泄漏预警”能精准识别危险声音并发出警报。“咳嗽便捷监测”可以帮助用户和家人及时了解健康状况。“敲门安防预警”能智能判断门外情况，保障居家安全。最后，“跌倒检测”功能在用户发生意外时能自动求救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除了被动的安全预警，我们还致力于打破沟通障碍。第四部分，我们将介绍产品的一大特色功能——手势识别与手语交互。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实现了11种常用手势的实时识别，识别速度小于1毫秒，且全部在手机端完成，保护用户隐私。我们的核心技术基于MediaPipe和自研的GestureNet-DB模型，确保了高精度和低延迟。通过SGS权威认证，我们的手势识别技术在复杂背景下依然表现出色。这套手势库不仅能用于日常操作，更能作为一种简单的沟通方式，实现双向手语交互的基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理论最终要落地为产品。在第五部分，我们将通过真机界面，直观地展示“微光守护”的实际应用效果。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一个强大的产品背后必然有坚实的技术架构支撑。第六部分，我们将剖析“微光守护”的技术实现。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为了让更多人受益，我们希望与社会各界合作。第七部分，我们将介绍我们的加盟合作计划。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欢迎各类合作伙伴。我们希望与公益组织合作，扩大产品的覆盖面；与技术平台合作，持续提升产品的智能化水平；与硬件厂商合作，实现技术的深度集成；并与社区服务合作，为用户提供更贴心的落地服务。我们相信，通过携手合作，我们能将这份温暖传递给更多需要帮助的人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“微光守护”在多个方面都具有创新性。第八部分，我们将总结项目的核心创新亮点。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创新首先在于全场景覆盖，我们是市面上唯一整合了四大领域功能的产品。其次，端侧AI技术的应用是一场革命，它彻底解决了用户对隐私和网络的担忧。我们通过多模态交互，为用户提供了最自然的感知体验。手势识别功能更是构建了一座双向沟通的桥梁。最后，我们以社会企业的模式运作，致力于实现社会效益的最大化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一个好的项目需要可持续的商业模式来支撑。第九部分，我们将阐述“微光守护”的商业模式。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商业模式分为三个阶段。第一阶段，我们将核心功能免费开放，以最快速度覆盖用户，验证产品价值。第二阶段，我们将积极寻求与政府合作，争取将产品纳入公共服务体系。第三阶段，在拥有庞大用户基础后，我们将推出一些个性化的增值服务，如高级健康报告等，以实现项目的可持续运营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项目的成功离不开一个有梦想、有能力的团队。第十部分，让我们认识一下“微光守护”的核心成员。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“微光守护”不仅是一个技术产品，更承载着巨大的社会价值。第十一部分，我们将探讨项目带来的社会效益。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坚信，技术的温度源于被需要。我们做这个项目的初衷非常纯粹，就是为了解决真实存在的社会痛点。如果我们的技术能在关键时刻拯救一个生命，能让一位老人得到及时的帮助，能让一个孩子的未来不受影响，那么我们所有的努力就都是值得的。我们相信，技术最大的价值，在于被需要的人所使用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最后，让我们展望未来，并向所有支持我们的人表示感谢。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将继续在技术上深耕，不断扩展产品功能，并致力于构建一个开放的无障碍生活生态。我们还计划逐步开源部分技术，回馈社会。在此，我要感谢所有支持我们的用户、合作伙伴和志愿者，感谢天府新区通用航空职业学院的支持。感谢大家的聆听，期待与您一起，让微光汇聚成炬，照亮更多人的生活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图标配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3"/>
            </p:custDataLst>
          </p:nvPr>
        </p:nvSpPr>
        <p:spPr>
          <a:xfrm>
            <a:off x="1143000" y="1803400"/>
            <a:ext cx="1219200" cy="1219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327400"/>
            <a:ext cx="2286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3835400"/>
            <a:ext cx="2286000" cy="2133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4038600" y="1803400"/>
            <a:ext cx="1219200" cy="1219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3505200" y="3327400"/>
            <a:ext cx="2286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505200" y="3835400"/>
            <a:ext cx="2286000" cy="2133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9"/>
            </p:custDataLst>
          </p:nvPr>
        </p:nvSpPr>
        <p:spPr>
          <a:xfrm>
            <a:off x="6934200" y="1803400"/>
            <a:ext cx="1219200" cy="1219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400800" y="3327400"/>
            <a:ext cx="2286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00800" y="3835400"/>
            <a:ext cx="2286000" cy="2133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9829800" y="1803400"/>
            <a:ext cx="1219200" cy="1219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3327400"/>
            <a:ext cx="2286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3835400"/>
            <a:ext cx="2286000" cy="2133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2514600" cy="4114800"/>
          </a:xfrm>
          <a:custGeom>
            <a:avLst/>
            <a:gdLst>
              <a:gd name="connisteX0" fmla="*/ 0 w 2514600"/>
              <a:gd name="connsiteY0" fmla="*/ 203200 h 4114800"/>
              <a:gd name="connisteX1" fmla="*/ 203200 w 2514600"/>
              <a:gd name="connsiteY1" fmla="*/ 0 h 4114800"/>
              <a:gd name="connisteX2" fmla="*/ 2311400 w 2514600"/>
              <a:gd name="connsiteY2" fmla="*/ 0 h 4114800"/>
              <a:gd name="connisteX3" fmla="*/ 2514600 w 2514600"/>
              <a:gd name="connsiteY3" fmla="*/ 203200 h 4114800"/>
              <a:gd name="connisteX4" fmla="*/ 2514600 w 2514600"/>
              <a:gd name="connsiteY4" fmla="*/ 3911600 h 4114800"/>
              <a:gd name="connisteX5" fmla="*/ 2311400 w 2514600"/>
              <a:gd name="connsiteY5" fmla="*/ 4114800 h 4114800"/>
              <a:gd name="connisteX6" fmla="*/ 203200 w 2514600"/>
              <a:gd name="connsiteY6" fmla="*/ 4114800 h 4114800"/>
              <a:gd name="connisteX7" fmla="*/ 0 w 2514600"/>
              <a:gd name="connsiteY7" fmla="*/ 3911600 h 4114800"/>
              <a:gd name="connisteX8" fmla="*/ 0 w 25146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11600"/>
                </a:lnTo>
                <a:cubicBezTo>
                  <a:pt x="2514600" y="4023824"/>
                  <a:pt x="2423624" y="4114800"/>
                  <a:pt x="23114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25146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1" hasCustomPrompt="1"/>
            <p:custDataLst>
              <p:tags r:id="rId5"/>
            </p:custDataLst>
          </p:nvPr>
        </p:nvSpPr>
        <p:spPr>
          <a:xfrm>
            <a:off x="3429000" y="1524000"/>
            <a:ext cx="2514600" cy="4114800"/>
          </a:xfrm>
          <a:custGeom>
            <a:avLst/>
            <a:gdLst>
              <a:gd name="connisteX0" fmla="*/ 0 w 2514600"/>
              <a:gd name="connsiteY0" fmla="*/ 203200 h 4114800"/>
              <a:gd name="connisteX1" fmla="*/ 203200 w 2514600"/>
              <a:gd name="connsiteY1" fmla="*/ 0 h 4114800"/>
              <a:gd name="connisteX2" fmla="*/ 2311400 w 2514600"/>
              <a:gd name="connsiteY2" fmla="*/ 0 h 4114800"/>
              <a:gd name="connisteX3" fmla="*/ 2514600 w 2514600"/>
              <a:gd name="connsiteY3" fmla="*/ 203200 h 4114800"/>
              <a:gd name="connisteX4" fmla="*/ 2514600 w 2514600"/>
              <a:gd name="connsiteY4" fmla="*/ 3911600 h 4114800"/>
              <a:gd name="connisteX5" fmla="*/ 2311400 w 2514600"/>
              <a:gd name="connsiteY5" fmla="*/ 4114800 h 4114800"/>
              <a:gd name="connisteX6" fmla="*/ 203200 w 2514600"/>
              <a:gd name="connsiteY6" fmla="*/ 4114800 h 4114800"/>
              <a:gd name="connisteX7" fmla="*/ 0 w 2514600"/>
              <a:gd name="connsiteY7" fmla="*/ 3911600 h 4114800"/>
              <a:gd name="connisteX8" fmla="*/ 0 w 25146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11600"/>
                </a:lnTo>
                <a:cubicBezTo>
                  <a:pt x="2514600" y="4023824"/>
                  <a:pt x="2423624" y="4114800"/>
                  <a:pt x="23114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3429000" y="5943600"/>
            <a:ext cx="25146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2" hasCustomPrompt="1"/>
            <p:custDataLst>
              <p:tags r:id="rId7"/>
            </p:custDataLst>
          </p:nvPr>
        </p:nvSpPr>
        <p:spPr>
          <a:xfrm>
            <a:off x="6248400" y="1524000"/>
            <a:ext cx="2514600" cy="4114800"/>
          </a:xfrm>
          <a:custGeom>
            <a:avLst/>
            <a:gdLst>
              <a:gd name="connisteX0" fmla="*/ 0 w 2514600"/>
              <a:gd name="connsiteY0" fmla="*/ 203200 h 4114800"/>
              <a:gd name="connisteX1" fmla="*/ 203200 w 2514600"/>
              <a:gd name="connsiteY1" fmla="*/ 0 h 4114800"/>
              <a:gd name="connisteX2" fmla="*/ 2311400 w 2514600"/>
              <a:gd name="connsiteY2" fmla="*/ 0 h 4114800"/>
              <a:gd name="connisteX3" fmla="*/ 2514600 w 2514600"/>
              <a:gd name="connsiteY3" fmla="*/ 203200 h 4114800"/>
              <a:gd name="connisteX4" fmla="*/ 2514600 w 2514600"/>
              <a:gd name="connsiteY4" fmla="*/ 3911600 h 4114800"/>
              <a:gd name="connisteX5" fmla="*/ 2311400 w 2514600"/>
              <a:gd name="connsiteY5" fmla="*/ 4114800 h 4114800"/>
              <a:gd name="connisteX6" fmla="*/ 203200 w 2514600"/>
              <a:gd name="connsiteY6" fmla="*/ 4114800 h 4114800"/>
              <a:gd name="connisteX7" fmla="*/ 0 w 2514600"/>
              <a:gd name="connsiteY7" fmla="*/ 3911600 h 4114800"/>
              <a:gd name="connisteX8" fmla="*/ 0 w 25146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11600"/>
                </a:lnTo>
                <a:cubicBezTo>
                  <a:pt x="2514600" y="4023824"/>
                  <a:pt x="2423624" y="4114800"/>
                  <a:pt x="23114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248400" y="5943600"/>
            <a:ext cx="25146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9067800" y="1524000"/>
            <a:ext cx="2514600" cy="4114800"/>
          </a:xfrm>
          <a:custGeom>
            <a:avLst/>
            <a:gdLst>
              <a:gd name="connisteX0" fmla="*/ 0 w 2514600"/>
              <a:gd name="connsiteY0" fmla="*/ 203200 h 4114800"/>
              <a:gd name="connisteX1" fmla="*/ 203200 w 2514600"/>
              <a:gd name="connsiteY1" fmla="*/ 0 h 4114800"/>
              <a:gd name="connisteX2" fmla="*/ 2311400 w 2514600"/>
              <a:gd name="connsiteY2" fmla="*/ 0 h 4114800"/>
              <a:gd name="connisteX3" fmla="*/ 2514600 w 2514600"/>
              <a:gd name="connsiteY3" fmla="*/ 203200 h 4114800"/>
              <a:gd name="connisteX4" fmla="*/ 2514600 w 2514600"/>
              <a:gd name="connsiteY4" fmla="*/ 3911600 h 4114800"/>
              <a:gd name="connisteX5" fmla="*/ 2311400 w 2514600"/>
              <a:gd name="connsiteY5" fmla="*/ 4114800 h 4114800"/>
              <a:gd name="connisteX6" fmla="*/ 203200 w 2514600"/>
              <a:gd name="connsiteY6" fmla="*/ 4114800 h 4114800"/>
              <a:gd name="connisteX7" fmla="*/ 0 w 2514600"/>
              <a:gd name="connsiteY7" fmla="*/ 3911600 h 4114800"/>
              <a:gd name="connisteX8" fmla="*/ 0 w 25146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11600"/>
                </a:lnTo>
                <a:cubicBezTo>
                  <a:pt x="2514600" y="4023824"/>
                  <a:pt x="2423624" y="4114800"/>
                  <a:pt x="23114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9067800" y="5943600"/>
            <a:ext cx="25146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2514600" cy="294640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2514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2514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3429000" y="1524000"/>
            <a:ext cx="2514600" cy="294640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3429000" y="4775200"/>
            <a:ext cx="2514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429000" y="5334000"/>
            <a:ext cx="2514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6248400" y="1524000"/>
            <a:ext cx="2514600" cy="294640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248400" y="4775200"/>
            <a:ext cx="2514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248400" y="5334000"/>
            <a:ext cx="2514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9067800" y="1524000"/>
            <a:ext cx="2514600" cy="294640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067800" y="4775200"/>
            <a:ext cx="2514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067800" y="5334000"/>
            <a:ext cx="2514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3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image" Target="../media/image9.png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8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image" Target="../media/image12.png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image" Target="../media/image11.png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8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60.xml"/><Relationship Id="rId3" Type="http://schemas.openxmlformats.org/officeDocument/2006/relationships/image" Target="../media/image13.png"/><Relationship Id="rId2" Type="http://schemas.openxmlformats.org/officeDocument/2006/relationships/tags" Target="../tags/tag59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1464310" y="832485"/>
            <a:ext cx="6864350" cy="26981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6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字魂馆藏山海经体" panose="00000500000000000000" charset="-122"/>
                <a:sym typeface="Noto Sans SC" panose="020B0200000000000000" charset="-122"/>
              </a:rPr>
              <a:t>以AI之手</a:t>
            </a:r>
            <a:endParaRPr lang="en-US" sz="96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字魂馆藏山海经体" panose="000005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 descr="7b0a2020202022776f7264617274223a2022220a7d0a"/>
          <p:cNvSpPr/>
          <p:nvPr>
            <p:custDataLst>
              <p:tags r:id="rId3"/>
            </p:custDataLst>
          </p:nvPr>
        </p:nvSpPr>
        <p:spPr>
          <a:xfrm>
            <a:off x="3206750" y="2966720"/>
            <a:ext cx="8338185" cy="189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54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搭建听障人士与世界沟通的桥梁</a:t>
            </a:r>
            <a:endParaRPr lang="en-US" sz="54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 descr="7b0a2020202022776f7264617274223a2022220a7d0a"/>
          <p:cNvSpPr/>
          <p:nvPr>
            <p:custDataLst>
              <p:tags r:id="rId4"/>
            </p:custDataLst>
          </p:nvPr>
        </p:nvSpPr>
        <p:spPr>
          <a:xfrm>
            <a:off x="0" y="4958080"/>
            <a:ext cx="12192000" cy="10737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0">
              <a:lnSpc>
                <a:spcPct val="108000"/>
              </a:lnSpc>
              <a:tabLst>
                <a:tab pos="11818620" algn="l"/>
              </a:tabLst>
              <a:defRPr/>
            </a:pPr>
            <a:r>
              <a:rPr lang="en-US" sz="36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字魂馆藏山海经体" panose="00000500000000000000" charset="-122"/>
                <a:sym typeface="Noto Sans SC" panose="020B0200000000000000" charset="-122"/>
              </a:rPr>
              <a:t>一款AI多模态无声安全健康预警系统</a:t>
            </a:r>
            <a:endParaRPr lang="en-US" sz="36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字魂馆藏山海经体" panose="000005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574415" y="5663565"/>
            <a:ext cx="6096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微光科技（WeiGuang Tech）</a:t>
            </a:r>
            <a:endParaRPr lang="en-US" sz="2400"/>
          </a:p>
        </p:txBody>
      </p:sp>
      <p:sp>
        <p:nvSpPr>
          <p:cNvPr id="7" name="AutoShape 7"/>
          <p:cNvSpPr/>
          <p:nvPr/>
        </p:nvSpPr>
        <p:spPr>
          <a:xfrm>
            <a:off x="2870200" y="57277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98600"/>
            <a:ext cx="10668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微光守护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7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项目与方案设计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项目简介：缘起与核心目标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重点分析：听障群体沟通痛点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产品方案：全场景交互解决方案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交互设计：手势识别与手语转化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847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847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387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7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技术与创新优势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8387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技术展示：真机功能演示与实测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技术架构：AI算法与系统底层支撑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加盟引擘：生态合作与渠道赋能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创新亮点：技术突破与体验升级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074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614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7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价值与未来规划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6614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商业模式：可持续运营与盈利路径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核心团队：专业研发与运营实力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社会效益：公益价值与社会影响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发展规划：未来蓝图与致谢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196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419600"/>
            <a:ext cx="76200" cy="177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43000" y="45466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以科技之力，搭建无障碍沟通的桥梁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5080000"/>
            <a:ext cx="1041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从真实的用户需求出发，结合前沿AI技术，我们致力于打破听障群体的信息孤岛，让沟通回归自然与平等，实现技术温度与社会价值的双重绽放。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55880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本次汇报将全面呈现项目的技术内核、商业逻辑与社会意义，共同见证微光如何汇聚成照亮无声世界的光芒，开启无障碍沟通的全新篇章。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0" y="3860800"/>
            <a:ext cx="12192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项目简介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微光守护：为听障人士筑起AI安全防线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25600"/>
            <a:ext cx="3556000" cy="1244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7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2700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022600" y="1828800"/>
            <a:ext cx="3200400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7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2286000"/>
            <a:ext cx="2667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全国听障人士的安全刚需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49600"/>
            <a:ext cx="6223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听不见闹钟、火警与燃气泄漏，跌倒时无法呼救，这是他们每天面对的真实困境。传统声音预警形同虚设，我们用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AI多模态感知技术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，将“听不见”的危险转化为看得见、触得到的安全守护，填补无声世界的安全盲区。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43400"/>
            <a:ext cx="62230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343400"/>
            <a:ext cx="50800" cy="1498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41400" y="4445000"/>
            <a:ext cx="254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核心优势与承诺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1400" y="4826000"/>
            <a:ext cx="571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基于100%端侧AI推理，数据不出手机，隐私绝对可控。覆盖睡眠、火灾、燃气等6大核心场景，以零知识加密与离线智能，做你身边24小时的无声安全哨兵。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 l="3821" r="3821"/>
          <a:stretch>
            <a:fillRect/>
          </a:stretch>
        </p:blipFill>
        <p:spPr>
          <a:xfrm>
            <a:off x="7620000" y="1905000"/>
            <a:ext cx="3683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31800" dist="177800" dir="5400000" rotWithShape="0">
              <a:srgbClr val="503C28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74295" y="3957320"/>
            <a:ext cx="12192000" cy="15474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重点分析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听障人士面临的六大安全痛点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覆盖日常生活的每个角落场景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30400"/>
            <a:ext cx="5588000" cy="1041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6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2700</a:t>
            </a: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58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中国听障群体规模庞大，每一个数字背后都是亟待被守护的安全需求。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54400"/>
            <a:ext cx="558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这些看似日常的“听不见”，实则是悬在听障人士头顶的安全隐患。从日常起居到突发应急，每一个无声的瞬间都可能演变为危及生命的风险，亟需被重视与解决。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70813" y="1412461"/>
            <a:ext cx="1981200" cy="198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304800" dist="101600" dir="5400000" rotWithShape="0">
              <a:srgbClr val="000000">
                <a:alpha val="14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39199" y="1412462"/>
            <a:ext cx="1981199" cy="1981199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304800" dist="101600" dir="5400000" rotWithShape="0">
              <a:srgbClr val="000000">
                <a:alpha val="14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762000" y="4470400"/>
            <a:ext cx="10668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四大高频致命安全隐患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78400"/>
            <a:ext cx="26035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978400"/>
            <a:ext cx="50800" cy="1498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65200" y="5041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听不见火警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5200" y="5372100"/>
            <a:ext cx="2286000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火灾突发时无法感知警报声，错失黄金逃生窗口，身陷险境却浑然不知，危及生命安全。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978400"/>
            <a:ext cx="26035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556000" y="4978400"/>
            <a:ext cx="50800" cy="1498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59200" y="5041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燃气泄漏无感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759200" y="5372100"/>
            <a:ext cx="2286000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无法听见报警器鸣响，无色无味的泄漏气体悄然蔓延，极易引发中毒、爆炸等重大安全事故。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4978400"/>
            <a:ext cx="26035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4978400"/>
            <a:ext cx="50800" cy="1498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53200" y="5041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异常敲门难辨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53200" y="5372100"/>
            <a:ext cx="2286000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无法通过声音分辨门外人员身份，陌生人滋扰或异常声响无法及时察觉，居家安防存在巨大漏洞。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4978400"/>
            <a:ext cx="26035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144000" y="4978400"/>
            <a:ext cx="50800" cy="1498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347200" y="5041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跌倒无法呼救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347200" y="5372100"/>
            <a:ext cx="2286000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独居时意外跌倒无法发出有效声音求救，错过最佳救援时机，可能导致伤情加重甚至危及生命。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63500" y="394652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产品方案设计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产品方案设计：六大核心模块，全天候守护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AI多模态安全预警系统，融合声学、振动与视觉感知，六大核心模块构建全场景、无死角的居家安全与健康守护网络。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90600" y="2286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387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触觉唤醒引擎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3035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032000" y="3035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强振闪光双重提醒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90600" y="35306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配备三种振动模式与四重强度调节，结合高频闪光，确保听障人群或熟睡者能被及时唤醒，不错过重要通知。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222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2222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00600" y="2286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2387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火灾声纹报警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842000" y="3035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842000" y="3035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高频声纹精准识别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00600" y="35306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精准捕捉8-16kHz火灾高频声纹，离线环境下也能秒级触发TTS语音播报与强闪光预警，筑牢火情第一道防线。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222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2222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610600" y="2286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52000" y="2387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燃气泄漏预警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52000" y="3035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652000" y="3035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微量泄漏实时监测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610600" y="35306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监测800Hz-4kHz中低频异常声响，敏锐发现微量燃气泄漏，立即预警并联动智能家居设备启动排风，消除隐患。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381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4381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90600" y="4445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032000" y="4546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咳嗽便捷监测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032000" y="5194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2032000" y="5194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健康状态智能研判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90600" y="56642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AI识别12种咳嗽声纹特征，建立三级健康预警机制，自动记录频次与类型，快速判断居家者健康状况并生成报告。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72000" y="4381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572000" y="4381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800600" y="4445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842000" y="4546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敲门安防预警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842000" y="5194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5842000" y="5194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危险行为AI甄别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800600" y="56642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通过AI分析敲门的强度、频次与节奏，智能区分正常来访与恶意滋扰，自动触发录像并推送预警信息给家人。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82000" y="4381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382000" y="4381500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8610600" y="4445000"/>
            <a:ext cx="9906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400" b="1" i="0" u="none" strike="noStrike">
                <a:solidFill>
                  <a:srgbClr val="F97316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652000" y="4546600"/>
            <a:ext cx="228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跌倒智能检测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652000" y="5194300"/>
            <a:ext cx="1651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9652000" y="5194300"/>
            <a:ext cx="165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3D视觉+传感双重确认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610600" y="5664200"/>
            <a:ext cx="3048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融合传感器数据与摄像头3D骨骼动态光流分析，精准判定意外跌倒，自动向预设的亲友发送位置与SOS求救信息。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0" y="393636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手势识别与手语交互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手势识别与双向手语交互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98600"/>
            <a:ext cx="10668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11种手势实时识别，100%端侧推理零延迟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毫秒级端侧推理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&lt;1ms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极速识别，100%端侧神经网络运算。数据全程不出手机，从根源杜绝隐私泄露风险，告别云端传输延迟。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847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847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387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高精模型与权威认证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387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基于MediaPipe 21个3D关键点，搭载自研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GestureNet-DB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动态匹配模型。经SGS认证，复杂背景下平均识别率超98%，10种核心手势实现零错误识别。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074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614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全场景通用手势库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61400" y="2692400"/>
            <a:ext cx="3149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覆盖数字0-9、确认、取消、点赞、爱心、OK等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11种高频手势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。既是便捷的设备交互语言，更是双向手语沟通的基础词汇库，适配生活全场景。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196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419600"/>
            <a:ext cx="76200" cy="177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43000" y="45466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多端适配，让无障碍沟通触手可及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50800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深度适配iOS、安卓、鸿蒙等主流移动系统，突破硬件性能限制，在千元机上也能流畅运行，真正做到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零门槛、无负担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的技术普惠。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55880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这不仅是一项AI视觉技术的突破，更是为听障群体搭建起与世界对话的桥梁，让每一个手势都能被看见、被理解。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74295" y="38608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字魂馆藏山海经体" panose="00000500000000000000" charset="-122"/>
                <a:sym typeface="Noto Sans SC" panose="020B0200000000000000" charset="-122"/>
              </a:rPr>
              <a:t>技术方案·真机展示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字魂馆藏山海经体" panose="000005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095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技术方案</a:t>
            </a:r>
            <a:r>
              <a:rPr lang="en-US" altLang="zh-CN"/>
              <a:t>-</a:t>
            </a:r>
            <a:r>
              <a:rPr lang="zh-CN" altLang="en-US"/>
              <a:t>真机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7" name="图片 6" descr="C:/Users/Lenovo/AppData/Roaming/Kingsoft/office6/tmp/phonefile/mmexport1785420291145.jpgmmexport1785420291145"/>
          <p:cNvPicPr preferRelativeResize="0">
            <a:picLocks noGrp="1"/>
          </p:cNvPicPr>
          <p:nvPr>
            <p:custDataLst>
              <p:tags r:id="rId3"/>
            </p:custDataLst>
          </p:nvPr>
        </p:nvPicPr>
        <p:blipFill rotWithShape="1">
          <a:blip r:embed="rId4"/>
          <a:srcRect l="5305" r="5305"/>
        </p:blipFill>
        <p:spPr>
          <a:xfrm>
            <a:off x="609600" y="1524000"/>
            <a:ext cx="1950720" cy="4165600"/>
          </a:xfrm>
          <a:custGeom>
            <a:avLst/>
            <a:gdLst>
              <a:gd name="sw" fmla="*/ 1 w 3072"/>
              <a:gd name="sh" fmla="*/ 1 h 6560"/>
              <a:gd name="mins" fmla="min sw sh"/>
              <a:gd name="dsw" fmla="+- 0 sw mins"/>
              <a:gd name="dsh" fmla="+- 0 sh mins"/>
              <a:gd name="p0x0" fmla="*/ 240 w 3072"/>
              <a:gd name="p0y0" fmla="*/ 0 h 6560"/>
              <a:gd name="p0x1" fmla="*/ 2832 w 3072"/>
              <a:gd name="p0y1" fmla="*/ 0 h 6560"/>
              <a:gd name="p0x2" fmla="*/ 2964 w 3072"/>
              <a:gd name="p0y2" fmla="*/ 0 h 6560"/>
              <a:gd name="p0x3" fmla="*/ 3072 w 3072"/>
              <a:gd name="p0y3" fmla="*/ 107 h 6560"/>
              <a:gd name="p0x4" fmla="*/ 3072 w 3072"/>
              <a:gd name="p0y4" fmla="*/ 240 h 6560"/>
              <a:gd name="p0x5" fmla="*/ 3072 w 3072"/>
              <a:gd name="p0y5" fmla="*/ 6320 h 6560"/>
              <a:gd name="p0x6" fmla="*/ 3072 w 3072"/>
              <a:gd name="p0y6" fmla="*/ 6452 h 6560"/>
              <a:gd name="p0x7" fmla="*/ 2964 w 3072"/>
              <a:gd name="p0y7" fmla="*/ 6560 h 6560"/>
              <a:gd name="p0x8" fmla="*/ 2832 w 3072"/>
              <a:gd name="p0y8" fmla="*/ 6560 h 6560"/>
              <a:gd name="p0x9" fmla="*/ 240 w 3072"/>
              <a:gd name="p0y9" fmla="*/ 6560 h 6560"/>
              <a:gd name="p0x10" fmla="*/ 107 w 3072"/>
              <a:gd name="p0y10" fmla="*/ 6560 h 6560"/>
              <a:gd name="p0x11" fmla="*/ 0 w 3072"/>
              <a:gd name="p0y11" fmla="*/ 6452 h 6560"/>
              <a:gd name="p0x12" fmla="*/ 0 w 3072"/>
              <a:gd name="p0y12" fmla="*/ 6320 h 6560"/>
              <a:gd name="p0x13" fmla="*/ 0 w 3072"/>
              <a:gd name="p0y13" fmla="*/ 240 h 6560"/>
              <a:gd name="p0x14" fmla="*/ 0 w 3072"/>
              <a:gd name="p0y14" fmla="*/ 107 h 6560"/>
              <a:gd name="p0x15" fmla="*/ 107 w 3072"/>
              <a:gd name="p0y15" fmla="*/ 0 h 6560"/>
              <a:gd name="p0x16" fmla="*/ 240 w 307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09600" y="5943600"/>
            <a:ext cx="1950720" cy="3048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首页</a:t>
            </a: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/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主界面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六大模块儿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入口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状态栏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实时监控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9" name="图片 8" descr="C:/Users/Lenovo/AppData/Roaming/Kingsoft/office6/tmp/phonefile/mmexport1785420293119(1).jpgmmexport1785420293119(1)"/>
          <p:cNvPicPr preferRelativeResize="0">
            <a:picLocks noGrp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5305" r="5305"/>
        </p:blipFill>
        <p:spPr>
          <a:xfrm>
            <a:off x="2865120" y="1524000"/>
            <a:ext cx="1950720" cy="4165600"/>
          </a:xfrm>
          <a:custGeom>
            <a:avLst/>
            <a:gdLst>
              <a:gd name="sw" fmla="*/ 1 w 3072"/>
              <a:gd name="sh" fmla="*/ 1 h 6560"/>
              <a:gd name="mins" fmla="min sw sh"/>
              <a:gd name="dsw" fmla="+- 0 sw mins"/>
              <a:gd name="dsh" fmla="+- 0 sh mins"/>
              <a:gd name="p0x0" fmla="*/ 240 w 3072"/>
              <a:gd name="p0y0" fmla="*/ 0 h 6560"/>
              <a:gd name="p0x1" fmla="*/ 2832 w 3072"/>
              <a:gd name="p0y1" fmla="*/ 0 h 6560"/>
              <a:gd name="p0x2" fmla="*/ 2964 w 3072"/>
              <a:gd name="p0y2" fmla="*/ 0 h 6560"/>
              <a:gd name="p0x3" fmla="*/ 3072 w 3072"/>
              <a:gd name="p0y3" fmla="*/ 107 h 6560"/>
              <a:gd name="p0x4" fmla="*/ 3072 w 3072"/>
              <a:gd name="p0y4" fmla="*/ 240 h 6560"/>
              <a:gd name="p0x5" fmla="*/ 3072 w 3072"/>
              <a:gd name="p0y5" fmla="*/ 6320 h 6560"/>
              <a:gd name="p0x6" fmla="*/ 3072 w 3072"/>
              <a:gd name="p0y6" fmla="*/ 6452 h 6560"/>
              <a:gd name="p0x7" fmla="*/ 2964 w 3072"/>
              <a:gd name="p0y7" fmla="*/ 6560 h 6560"/>
              <a:gd name="p0x8" fmla="*/ 2832 w 3072"/>
              <a:gd name="p0y8" fmla="*/ 6560 h 6560"/>
              <a:gd name="p0x9" fmla="*/ 240 w 3072"/>
              <a:gd name="p0y9" fmla="*/ 6560 h 6560"/>
              <a:gd name="p0x10" fmla="*/ 107 w 3072"/>
              <a:gd name="p0y10" fmla="*/ 6560 h 6560"/>
              <a:gd name="p0x11" fmla="*/ 0 w 3072"/>
              <a:gd name="p0y11" fmla="*/ 6452 h 6560"/>
              <a:gd name="p0x12" fmla="*/ 0 w 3072"/>
              <a:gd name="p0y12" fmla="*/ 6320 h 6560"/>
              <a:gd name="p0x13" fmla="*/ 0 w 3072"/>
              <a:gd name="p0y13" fmla="*/ 240 h 6560"/>
              <a:gd name="p0x14" fmla="*/ 0 w 3072"/>
              <a:gd name="p0y14" fmla="*/ 107 h 6560"/>
              <a:gd name="p0x15" fmla="*/ 107 w 3072"/>
              <a:gd name="p0y15" fmla="*/ 0 h 6560"/>
              <a:gd name="p0x16" fmla="*/ 240 w 307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865120" y="5943600"/>
            <a:ext cx="1950720" cy="3048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 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火灾预警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CNN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声纹识别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全屏红色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预警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11" name="图片 10" descr="C:/Users/Lenovo/AppData/Roaming/Kingsoft/office6/tmp/phonefile/mmexport1785420295608.jpgmmexport1785420295608"/>
          <p:cNvPicPr preferRelativeResize="0">
            <a:picLocks noGrp="1"/>
          </p:cNvPicPr>
          <p:nvPr>
            <p:custDataLst>
              <p:tags r:id="rId9"/>
            </p:custDataLst>
          </p:nvPr>
        </p:nvPicPr>
        <p:blipFill rotWithShape="1">
          <a:blip r:embed="rId10"/>
          <a:srcRect l="5305" r="5305"/>
        </p:blipFill>
        <p:spPr>
          <a:xfrm>
            <a:off x="5120640" y="1524000"/>
            <a:ext cx="1950720" cy="4165600"/>
          </a:xfrm>
          <a:custGeom>
            <a:avLst/>
            <a:gdLst>
              <a:gd name="sw" fmla="*/ 1 w 3072"/>
              <a:gd name="sh" fmla="*/ 1 h 6560"/>
              <a:gd name="mins" fmla="min sw sh"/>
              <a:gd name="dsw" fmla="+- 0 sw mins"/>
              <a:gd name="dsh" fmla="+- 0 sh mins"/>
              <a:gd name="p0x0" fmla="*/ 240 w 3072"/>
              <a:gd name="p0y0" fmla="*/ 0 h 6560"/>
              <a:gd name="p0x1" fmla="*/ 2832 w 3072"/>
              <a:gd name="p0y1" fmla="*/ 0 h 6560"/>
              <a:gd name="p0x2" fmla="*/ 2964 w 3072"/>
              <a:gd name="p0y2" fmla="*/ 0 h 6560"/>
              <a:gd name="p0x3" fmla="*/ 3072 w 3072"/>
              <a:gd name="p0y3" fmla="*/ 107 h 6560"/>
              <a:gd name="p0x4" fmla="*/ 3072 w 3072"/>
              <a:gd name="p0y4" fmla="*/ 240 h 6560"/>
              <a:gd name="p0x5" fmla="*/ 3072 w 3072"/>
              <a:gd name="p0y5" fmla="*/ 6320 h 6560"/>
              <a:gd name="p0x6" fmla="*/ 3072 w 3072"/>
              <a:gd name="p0y6" fmla="*/ 6452 h 6560"/>
              <a:gd name="p0x7" fmla="*/ 2964 w 3072"/>
              <a:gd name="p0y7" fmla="*/ 6560 h 6560"/>
              <a:gd name="p0x8" fmla="*/ 2832 w 3072"/>
              <a:gd name="p0y8" fmla="*/ 6560 h 6560"/>
              <a:gd name="p0x9" fmla="*/ 240 w 3072"/>
              <a:gd name="p0y9" fmla="*/ 6560 h 6560"/>
              <a:gd name="p0x10" fmla="*/ 107 w 3072"/>
              <a:gd name="p0y10" fmla="*/ 6560 h 6560"/>
              <a:gd name="p0x11" fmla="*/ 0 w 3072"/>
              <a:gd name="p0y11" fmla="*/ 6452 h 6560"/>
              <a:gd name="p0x12" fmla="*/ 0 w 3072"/>
              <a:gd name="p0y12" fmla="*/ 6320 h 6560"/>
              <a:gd name="p0x13" fmla="*/ 0 w 3072"/>
              <a:gd name="p0y13" fmla="*/ 240 h 6560"/>
              <a:gd name="p0x14" fmla="*/ 0 w 3072"/>
              <a:gd name="p0y14" fmla="*/ 107 h 6560"/>
              <a:gd name="p0x15" fmla="*/ 107 w 3072"/>
              <a:gd name="p0y15" fmla="*/ 0 h 6560"/>
              <a:gd name="p0x16" fmla="*/ 240 w 307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5120640" y="5943600"/>
            <a:ext cx="1950720" cy="3048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燃气泄漏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预警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MFCC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低频检测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四步处置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指南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13" name="图片 12" descr="C:/Users/Lenovo/AppData/Roaming/Kingsoft/office6/tmp/phonefile/mmexport1785420297368.jpgmmexport1785420297368"/>
          <p:cNvPicPr preferRelativeResize="0">
            <a:picLocks noGrp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5305" r="5305"/>
        </p:blipFill>
        <p:spPr>
          <a:xfrm>
            <a:off x="7376160" y="1524000"/>
            <a:ext cx="1950720" cy="4165600"/>
          </a:xfrm>
          <a:custGeom>
            <a:avLst/>
            <a:gdLst>
              <a:gd name="sw" fmla="*/ 1 w 3072"/>
              <a:gd name="sh" fmla="*/ 1 h 6560"/>
              <a:gd name="mins" fmla="min sw sh"/>
              <a:gd name="dsw" fmla="+- 0 sw mins"/>
              <a:gd name="dsh" fmla="+- 0 sh mins"/>
              <a:gd name="p0x0" fmla="*/ 240 w 3072"/>
              <a:gd name="p0y0" fmla="*/ 0 h 6560"/>
              <a:gd name="p0x1" fmla="*/ 2832 w 3072"/>
              <a:gd name="p0y1" fmla="*/ 0 h 6560"/>
              <a:gd name="p0x2" fmla="*/ 2964 w 3072"/>
              <a:gd name="p0y2" fmla="*/ 0 h 6560"/>
              <a:gd name="p0x3" fmla="*/ 3072 w 3072"/>
              <a:gd name="p0y3" fmla="*/ 107 h 6560"/>
              <a:gd name="p0x4" fmla="*/ 3072 w 3072"/>
              <a:gd name="p0y4" fmla="*/ 240 h 6560"/>
              <a:gd name="p0x5" fmla="*/ 3072 w 3072"/>
              <a:gd name="p0y5" fmla="*/ 6320 h 6560"/>
              <a:gd name="p0x6" fmla="*/ 3072 w 3072"/>
              <a:gd name="p0y6" fmla="*/ 6452 h 6560"/>
              <a:gd name="p0x7" fmla="*/ 2964 w 3072"/>
              <a:gd name="p0y7" fmla="*/ 6560 h 6560"/>
              <a:gd name="p0x8" fmla="*/ 2832 w 3072"/>
              <a:gd name="p0y8" fmla="*/ 6560 h 6560"/>
              <a:gd name="p0x9" fmla="*/ 240 w 3072"/>
              <a:gd name="p0y9" fmla="*/ 6560 h 6560"/>
              <a:gd name="p0x10" fmla="*/ 107 w 3072"/>
              <a:gd name="p0y10" fmla="*/ 6560 h 6560"/>
              <a:gd name="p0x11" fmla="*/ 0 w 3072"/>
              <a:gd name="p0y11" fmla="*/ 6452 h 6560"/>
              <a:gd name="p0x12" fmla="*/ 0 w 3072"/>
              <a:gd name="p0y12" fmla="*/ 6320 h 6560"/>
              <a:gd name="p0x13" fmla="*/ 0 w 3072"/>
              <a:gd name="p0y13" fmla="*/ 240 h 6560"/>
              <a:gd name="p0x14" fmla="*/ 0 w 3072"/>
              <a:gd name="p0y14" fmla="*/ 107 h 6560"/>
              <a:gd name="p0x15" fmla="*/ 107 w 3072"/>
              <a:gd name="p0y15" fmla="*/ 0 h 6560"/>
              <a:gd name="p0x16" fmla="*/ 240 w 307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7375525" y="5943600"/>
            <a:ext cx="1950720" cy="3048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 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手势识别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11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种手势实时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识别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SOS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握拳自动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触发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19" name="图片 18" descr="C:/Users/Lenovo/AppData/Roaming/Kingsoft/office6/tmp/phonefile/mmexport1785420299532.jpgmmexport1785420299532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 l="5305" r="5305"/>
        </p:blipFill>
        <p:spPr>
          <a:xfrm>
            <a:off x="9631680" y="1524000"/>
            <a:ext cx="1950720" cy="4165600"/>
          </a:xfrm>
          <a:custGeom>
            <a:avLst/>
            <a:gdLst>
              <a:gd name="sw" fmla="*/ 1 w 3072"/>
              <a:gd name="sh" fmla="*/ 1 h 6560"/>
              <a:gd name="mins" fmla="min sw sh"/>
              <a:gd name="dsw" fmla="+- 0 sw mins"/>
              <a:gd name="dsh" fmla="+- 0 sh mins"/>
              <a:gd name="p0x0" fmla="*/ 240 w 3072"/>
              <a:gd name="p0y0" fmla="*/ 0 h 6560"/>
              <a:gd name="p0x1" fmla="*/ 2832 w 3072"/>
              <a:gd name="p0y1" fmla="*/ 0 h 6560"/>
              <a:gd name="p0x2" fmla="*/ 2964 w 3072"/>
              <a:gd name="p0y2" fmla="*/ 0 h 6560"/>
              <a:gd name="p0x3" fmla="*/ 3072 w 3072"/>
              <a:gd name="p0y3" fmla="*/ 107 h 6560"/>
              <a:gd name="p0x4" fmla="*/ 3072 w 3072"/>
              <a:gd name="p0y4" fmla="*/ 240 h 6560"/>
              <a:gd name="p0x5" fmla="*/ 3072 w 3072"/>
              <a:gd name="p0y5" fmla="*/ 6320 h 6560"/>
              <a:gd name="p0x6" fmla="*/ 3072 w 3072"/>
              <a:gd name="p0y6" fmla="*/ 6452 h 6560"/>
              <a:gd name="p0x7" fmla="*/ 2964 w 3072"/>
              <a:gd name="p0y7" fmla="*/ 6560 h 6560"/>
              <a:gd name="p0x8" fmla="*/ 2832 w 3072"/>
              <a:gd name="p0y8" fmla="*/ 6560 h 6560"/>
              <a:gd name="p0x9" fmla="*/ 240 w 3072"/>
              <a:gd name="p0y9" fmla="*/ 6560 h 6560"/>
              <a:gd name="p0x10" fmla="*/ 107 w 3072"/>
              <a:gd name="p0y10" fmla="*/ 6560 h 6560"/>
              <a:gd name="p0x11" fmla="*/ 0 w 3072"/>
              <a:gd name="p0y11" fmla="*/ 6452 h 6560"/>
              <a:gd name="p0x12" fmla="*/ 0 w 3072"/>
              <a:gd name="p0y12" fmla="*/ 6320 h 6560"/>
              <a:gd name="p0x13" fmla="*/ 0 w 3072"/>
              <a:gd name="p0y13" fmla="*/ 240 h 6560"/>
              <a:gd name="p0x14" fmla="*/ 0 w 3072"/>
              <a:gd name="p0y14" fmla="*/ 107 h 6560"/>
              <a:gd name="p0x15" fmla="*/ 107 w 3072"/>
              <a:gd name="p0y15" fmla="*/ 0 h 6560"/>
              <a:gd name="p0x16" fmla="*/ 240 w 307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9631680" y="5943600"/>
            <a:ext cx="1950720" cy="3048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敲门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检测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密度分析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算法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七级安全</a:t>
            </a:r>
            <a:r>
              <a:rPr lang="zh-CN" altLang="en-US" sz="1595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cs typeface="微软雅黑" panose="020B0503020204020204" charset="-122"/>
              </a:rPr>
              <a:t>评估</a:t>
            </a:r>
            <a:endParaRPr lang="zh-CN" altLang="en-US" sz="1595">
              <a:solidFill>
                <a:schemeClr val="dk1"/>
              </a:solidFill>
              <a:latin typeface="Arial" panose="020B060402020202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06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0" y="397827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技术架构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0" y="264795"/>
            <a:ext cx="7134860" cy="609600"/>
          </a:xfrm>
        </p:spPr>
        <p:txBody>
          <a:bodyPr>
            <a:noAutofit/>
          </a:bodyPr>
          <a:p>
            <a:r>
              <a:rPr lang="zh-CN" altLang="en-US"/>
              <a:t>技术架构：端侧</a:t>
            </a:r>
            <a:r>
              <a:rPr lang="en-US" altLang="zh-CN"/>
              <a:t>AI</a:t>
            </a:r>
            <a:r>
              <a:rPr lang="zh-CN" altLang="en-US"/>
              <a:t>驱动的安全体系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" y="874395"/>
            <a:ext cx="11457940" cy="57924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07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64135" y="393636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加盟引擘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 spc="1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加盟引擘：携手共创，传递温暖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711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1041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 spc="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我们寻找有共同愿景的合作伙伴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304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以开放共赢的姿态汇聚多方力量，让科技助残的温暖触达每一位听障人士，</a:t>
            </a:r>
            <a:r>
              <a:rPr lang="en-US" sz="17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共创无障碍沟通的美好未来</a:t>
            </a: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2730500"/>
            <a:ext cx="3302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330200" dist="127000" dir="5400000" rotWithShape="0">
              <a:srgbClr val="503C28">
                <a:alpha val="18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4572000" y="2730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2730500"/>
            <a:ext cx="381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75200" y="2794000"/>
            <a:ext cx="3111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公益组织深度联动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75200" y="3200400"/>
            <a:ext cx="3111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携手残联与听障协会，搭建公益推广网络，精准触达需求群体，让产品惠及更广泛的听障人士。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27305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55000" y="2730500"/>
            <a:ext cx="381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58200" y="27940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AI技术平台赋能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58200" y="3200400"/>
            <a:ext cx="2857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联合科大讯飞接入星火大模型与语音SDK，升级智能交互能力，让语音识别更精准、沟通更顺畅。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191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72000" y="4191000"/>
            <a:ext cx="381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775200" y="4267200"/>
            <a:ext cx="3111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智能终端预置合作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75200" y="4648200"/>
            <a:ext cx="3111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携手手机厂商将技术预置至新机型，实现软硬件深度整合，让听障用户购机即享无障碍沟通体验。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4191000"/>
            <a:ext cx="3175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55000" y="4191000"/>
            <a:ext cx="381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458200" y="42672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社区服务暖心落地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458200" y="4648200"/>
            <a:ext cx="2857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联动社区服务中心，为听障老人提供上门安装、使用培训与设备维护，打通服务的“最后一公里”。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0" y="38608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创新亮点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创新亮点：技术与人文的融合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98600"/>
            <a:ext cx="10668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我们不仅是技术的创造者，更是需求的倾听者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全场景覆盖守护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92400"/>
            <a:ext cx="314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市面上唯一整合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安全预警、健康监护、安防感知、日常唤醒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四大领域的产品，实现对听障群体生活的全天候无缝守护。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847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847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387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端侧AI隐私革命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38700" y="2692400"/>
            <a:ext cx="314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100%端侧本地推理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，无需云端传输敏感数据，从根源上解决了用户隐私泄露风险与网络依赖的行业痛点。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07400" y="2159000"/>
            <a:ext cx="3530600" cy="1879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2159000"/>
            <a:ext cx="50800" cy="1879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61400" y="2286000"/>
            <a:ext cx="3149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多模态自然交互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61400" y="2692400"/>
            <a:ext cx="314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深度融合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听觉、视觉、触觉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多维感知技术，打破单一感官限制，为听障人士还原最贴合直觉的环境信息获取方式。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196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419600"/>
            <a:ext cx="76200" cy="177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43000" y="45466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双向沟通与社会价值的共生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5080000"/>
            <a:ext cx="1041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手势识别与手语交互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打破单向预警局限，构建双向沟通桥梁；秉持社会企业模式，以社会效益最大化为目标，探索可持续的公益商业路径。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55880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我们坚信，真正的科技向善，是让技术不仅解决问题，更能重塑人与人之间的连接，让听障群体拥有平等参与社会的权利与能力。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核心竞争力与护城河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五大核心优势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微光同行 vs 竞品对比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737360" cy="4114800"/>
          </a:xfrm>
          <a:prstGeom prst="roundRect">
            <a:avLst>
              <a:gd name="adj" fmla="val 7895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17373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全场景覆盖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6大预警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11种手势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80+商品识别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1737360" cy="4114800"/>
          </a:xfrm>
          <a:prstGeom prst="roundRect">
            <a:avLst>
              <a:gd name="adj" fmla="val 7895"/>
            </a:avLst>
          </a:prstGeom>
          <a:solidFill>
            <a:srgbClr val="3D2B1F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463040"/>
            <a:ext cx="1737360" cy="7315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889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端侧AI推理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100%本地运行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零网络依赖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1737360" cy="4114800"/>
          </a:xfrm>
          <a:prstGeom prst="roundRect">
            <a:avLst>
              <a:gd name="adj" fmla="val 7895"/>
            </a:avLst>
          </a:prstGeom>
          <a:solidFill>
            <a:srgbClr val="3D2B1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463040"/>
            <a:ext cx="173736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零知识加密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服务端不可解密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数据不出设备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463040"/>
            <a:ext cx="1737360" cy="4114800"/>
          </a:xfrm>
          <a:prstGeom prst="roundRect">
            <a:avLst>
              <a:gd name="adj" fmla="val 7895"/>
            </a:avLst>
          </a:prstGeom>
          <a:solidFill>
            <a:srgbClr val="3D2B1F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1463040"/>
            <a:ext cx="1737360" cy="73152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8A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9037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无网络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7×24小时运行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1463040"/>
            <a:ext cx="1737360" cy="4114800"/>
          </a:xfrm>
          <a:prstGeom prst="roundRect">
            <a:avLst>
              <a:gd name="adj" fmla="val 7895"/>
            </a:avLst>
          </a:prstGeom>
          <a:solidFill>
            <a:srgbClr val="3D2B1F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0" y="1463040"/>
            <a:ext cx="1737360" cy="731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9611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免费开放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永久免费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669280"/>
            <a:ext cx="9601200" cy="457200"/>
          </a:xfrm>
          <a:prstGeom prst="roundRect">
            <a:avLst>
              <a:gd name="adj" fmla="val 20000"/>
            </a:avLst>
          </a:prstGeom>
          <a:solidFill>
            <a:srgbClr val="FF6B35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竞品多为单一功能/依赖云端/隐私薄弱/断网失效/付费订阅 → 微光同行全维度领先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技术护城河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四大核心技术壁垒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4754880" cy="2560320"/>
          </a:xfrm>
          <a:prstGeom prst="roundRect">
            <a:avLst>
              <a:gd name="adj" fmla="val 5357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475488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WeiGuang-Secure 加密引擎</a:t>
            </a:r>
            <a:endParaRPr lang="en-US" sz="1400" dirty="0"/>
          </a:p>
        </p:txBody>
      </p:sp>
      <p:pic>
        <p:nvPicPr>
          <p:cNvPr id="8" name="Image 0" descr="F:\java\weiguangplus\weiguang123\参赛材料\screenshots\02_三层加密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438912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371600"/>
            <a:ext cx="4754880" cy="2560320"/>
          </a:xfrm>
          <a:prstGeom prst="roundRect">
            <a:avLst>
              <a:gd name="adj" fmla="val 5357"/>
            </a:avLst>
          </a:prstGeom>
          <a:solidFill>
            <a:srgbClr val="3D2B1F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1371600"/>
            <a:ext cx="4754880" cy="7315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463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GestureVectorDB 手势向量数据库</a:t>
            </a:r>
            <a:endParaRPr lang="en-US" sz="1400" dirty="0"/>
          </a:p>
        </p:txBody>
      </p:sp>
      <p:pic>
        <p:nvPicPr>
          <p:cNvPr id="12" name="Image 1" descr="F:\java\weiguangplus\weiguang123\ppt_workspace\screenshots\phone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1645920" cy="1828800"/>
          </a:xfrm>
          <a:prstGeom prst="rect">
            <a:avLst/>
          </a:prstGeom>
        </p:spPr>
      </p:pic>
      <p:pic>
        <p:nvPicPr>
          <p:cNvPr id="13" name="Image 2" descr="F:\java\weiguangplus\weiguang123\ppt_workspace\screenshots\phone_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20240"/>
            <a:ext cx="164592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1520" y="4206240"/>
            <a:ext cx="4754880" cy="1828800"/>
          </a:xfrm>
          <a:prstGeom prst="roundRect">
            <a:avLst>
              <a:gd name="adj" fmla="val 7500"/>
            </a:avLst>
          </a:prstGeom>
          <a:solidFill>
            <a:srgbClr val="3D2B1F"/>
          </a:solidFill>
          <a:ln/>
        </p:spPr>
      </p:sp>
      <p:sp>
        <p:nvSpPr>
          <p:cNvPr id="15" name="Shape 10"/>
          <p:cNvSpPr/>
          <p:nvPr/>
        </p:nvSpPr>
        <p:spPr>
          <a:xfrm>
            <a:off x="731520" y="4206240"/>
            <a:ext cx="4754880" cy="73152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端侧AI全离线推理</a:t>
            </a:r>
            <a:endParaRPr lang="en-US" sz="1400" dirty="0"/>
          </a:p>
        </p:txBody>
      </p:sp>
      <p:pic>
        <p:nvPicPr>
          <p:cNvPr id="17" name="Image 3" descr="F:\java\weiguangplus\weiguang123\参赛材料\screenshots\05_雪崩效应测试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09160"/>
            <a:ext cx="2103120" cy="11887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00400" y="48463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CNN/RNN INT8量化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模型&lt;2MB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推理&lt;50ms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760720" y="4206240"/>
            <a:ext cx="4754880" cy="1828800"/>
          </a:xfrm>
          <a:prstGeom prst="roundRect">
            <a:avLst>
              <a:gd name="adj" fmla="val 7500"/>
            </a:avLst>
          </a:prstGeom>
          <a:solidFill>
            <a:srgbClr val="3D2B1F"/>
          </a:solidFill>
          <a:ln/>
        </p:spPr>
      </p:sp>
      <p:sp>
        <p:nvSpPr>
          <p:cNvPr id="20" name="Shape 14"/>
          <p:cNvSpPr/>
          <p:nvPr/>
        </p:nvSpPr>
        <p:spPr>
          <a:xfrm>
            <a:off x="5760720" y="4206240"/>
            <a:ext cx="4754880" cy="731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多模态融合检测</a:t>
            </a:r>
            <a:endParaRPr lang="en-US" sz="1400" dirty="0"/>
          </a:p>
        </p:txBody>
      </p:sp>
      <p:pic>
        <p:nvPicPr>
          <p:cNvPr id="22" name="Image 4" descr="F:\java\weiguangplus\weiguang123\ppt_workspace\screenshots\phone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709160"/>
            <a:ext cx="1371600" cy="1188720"/>
          </a:xfrm>
          <a:prstGeom prst="rect">
            <a:avLst/>
          </a:prstGeom>
        </p:spPr>
      </p:pic>
      <p:pic>
        <p:nvPicPr>
          <p:cNvPr id="23" name="Image 5" descr="F:\java\weiguangplus\weiguang123\ppt_workspace\screenshots\phone_0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709160"/>
            <a:ext cx="1371600" cy="1188720"/>
          </a:xfrm>
          <a:prstGeom prst="rect">
            <a:avLst/>
          </a:prstGeom>
        </p:spPr>
      </p:pic>
      <p:pic>
        <p:nvPicPr>
          <p:cNvPr id="24" name="Image 6" descr="F:\java\weiguangplus\weiguang123\ppt_workspace\screenshots\phone_0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4709160"/>
            <a:ext cx="13716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核心算法开源，建立技术信任，推动行业进步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1554480"/>
            <a:ext cx="2743200" cy="1097280"/>
          </a:xfrm>
          <a:prstGeom prst="roundRect">
            <a:avLst>
              <a:gd name="adj" fmla="val 16667"/>
            </a:avLst>
          </a:prstGeom>
          <a:solidFill>
            <a:srgbClr val="FF6B35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2.0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3D2B1F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926080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接受社区安全审计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公开代码，接受全球安全专家审查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74904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3D2B1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3749040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建立技术信任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透明化架构，让用户放心使用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3D2B1F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4572000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4617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推动行业进步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开放核心算法，赋能更多开发者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商业模式与盈利路径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四层分级服务，公益与商业的平衡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286000" cy="41148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286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免费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88720" y="2926080"/>
            <a:ext cx="1371600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全体听障人士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六大安全预警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11种手势识别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商品识别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286000" cy="41148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63040"/>
            <a:ext cx="2286000" cy="73152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9.9元/月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49040" y="2926080"/>
            <a:ext cx="1371600" cy="18288"/>
          </a:xfrm>
          <a:prstGeom prst="rect">
            <a:avLst/>
          </a:prstGeom>
          <a:solidFill>
            <a:srgbClr val="118AB2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听障人士家属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474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家庭群组管理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家属远程监控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紧急联系人联动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463040"/>
            <a:ext cx="2286000" cy="41148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5852160" y="1463040"/>
            <a:ext cx="2286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5216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面议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1371600" cy="18288"/>
          </a:xfrm>
          <a:prstGeom prst="rect">
            <a:avLst/>
          </a:prstGeom>
          <a:solidFill>
            <a:srgbClr val="FF6B35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社区/残联机构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474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机构管理后台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批量告警推送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数据统计报表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1463040"/>
            <a:ext cx="2286000" cy="41148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1463040"/>
            <a:ext cx="2286000" cy="731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5D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面议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869680" y="2926080"/>
            <a:ext cx="1371600" cy="18288"/>
          </a:xfrm>
          <a:prstGeom prst="rect">
            <a:avLst/>
          </a:prstGeom>
          <a:solidFill>
            <a:srgbClr val="9B5DE5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企业/机构客户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3474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定制化开发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盈利路径与成本结构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端侧推理架构天然带来极低运营成本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029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盈利路径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C端订阅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覆盖1%家庭(27万) → 年收入约3200万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B端合作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全国10万社区，覆盖1% → 1000个社区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703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个性化手语训练、AI模型定制、健康报告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480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数据价值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脱敏手势数据赋能AI训练(严格隐私保护)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4572000" cy="4114800"/>
          </a:xfrm>
          <a:prstGeom prst="roundRect">
            <a:avLst>
              <a:gd name="adj" fmla="val 3333"/>
            </a:avLst>
          </a:prstGeom>
          <a:solidFill>
            <a:srgbClr val="3D2B1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1371600"/>
            <a:ext cx="457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1031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148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研发成本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核心功能已开发完成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880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服务器成本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极低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零知识架构，仅存密文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6576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703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推广成本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残联合作、公益渠道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434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C181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480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运营成本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4480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低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社区运营、内容更新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5669280"/>
            <a:ext cx="9601200" cy="457200"/>
          </a:xfrm>
          <a:prstGeom prst="roundRect">
            <a:avLst>
              <a:gd name="adj" fmla="val 20000"/>
            </a:avLst>
          </a:prstGeom>
          <a:solidFill>
            <a:srgbClr val="FF6B35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关键优势：端侧推理架构天然带来极低运营成本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发展规划与路线图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三步走战略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从产品打磨到规模扩张的发展路径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4630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463040"/>
            <a:ext cx="2743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产品打磨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3291840"/>
            <a:ext cx="1280160" cy="18288"/>
          </a:xfrm>
          <a:prstGeom prst="rect">
            <a:avLst/>
          </a:prstGeom>
          <a:solidFill>
            <a:srgbClr val="FF6B3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Q3-Q4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931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6大模块全部上线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100人内测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3D2B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463040"/>
            <a:ext cx="2743200" cy="7315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1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市场验证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3291840"/>
            <a:ext cx="1280160" cy="18288"/>
          </a:xfrm>
          <a:prstGeom prst="rect">
            <a:avLst/>
          </a:prstGeom>
          <a:solidFill>
            <a:srgbClr val="FFC14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Q1-Q2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931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用户量突破1万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残联合作建立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4630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3D2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146304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77240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规模扩张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3291840"/>
            <a:ext cx="1280160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Q3起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3931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用户量突破10万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开源社区建立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B端合作落地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98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关键风险与应对策略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识别风险，提前布局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5" name="Image 0" descr="F:\java\weiguangplus\weiguang123\参赛材料\charts\05_persuasion_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45720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7160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3D2B1F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371600"/>
            <a:ext cx="73152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用户获取成本高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0" y="1417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增长缓慢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残联合作渠道、公益推广、口碑传播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3D2B1F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377440"/>
            <a:ext cx="73152" cy="822960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模型准确率瓶颈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43200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用户体验差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持续迭代训练、用户反馈数据优化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38328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3D2B1F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3383280"/>
            <a:ext cx="73152" cy="82296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设备兼容性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0" y="3429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部分机型不适配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584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中低端机型适配方案，优化模型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438912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3D2B1F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4389120"/>
            <a:ext cx="73152" cy="82296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竞品跟进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743200" y="4434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0584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开源建立生态壁垒，深耕听障垂直场景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社会效益与影响力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社会价值量化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用数据说话，让价值可见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286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2700万+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听障人士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获得全天候AI守护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463040"/>
            <a:ext cx="2286000" cy="7315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预计降低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安全事故率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1463040"/>
            <a:ext cx="2286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5216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隐私零泄露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1463040"/>
            <a:ext cx="2286000" cy="7315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6大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安全预警模块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全覆盖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9601200" cy="1828800"/>
          </a:xfrm>
          <a:prstGeom prst="roundRect">
            <a:avLst>
              <a:gd name="adj" fmla="val 7500"/>
            </a:avLst>
          </a:prstGeom>
          <a:solidFill>
            <a:srgbClr val="3D2B1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直接受益群体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2700万+听障人士 → 全天候AI安全守护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听障人士家属 → 减轻照护压力，实时掌握家人安全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社区服务机构 → 更高效的听障人群服务工具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老年听力衰退群体 → 享受无障碍科技红利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4572000" cy="22860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3657600"/>
            <a:ext cx="3657600" cy="1828800"/>
          </a:xfrm>
          <a:prstGeom prst="ellipse">
            <a:avLst/>
          </a:prstGeom>
          <a:solidFill>
            <a:srgbClr val="FFC14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让微光汇聚成炬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0" y="237744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感谢每一位支持项目的用户、合作伙伴与志愿者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更感谢所有为听障群体发声、为无障碍事业奔走的追光者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是你们让科技的微光，终能汇聚成照亮前行之路的火炬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微光科技 WeiGuang Tech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10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116840" y="392557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核心团队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095" cy="6858000"/>
          </a:xfrm>
          <a:prstGeom prst="rect">
            <a:avLst/>
          </a:prstGeom>
        </p:spPr>
      </p:pic>
      <p:sp>
        <p:nvSpPr>
          <p:cNvPr id="23" name="内容占位符 22"/>
          <p:cNvSpPr>
            <a:spLocks noGrp="1"/>
          </p:cNvSpPr>
          <p:nvPr>
            <p:ph idx="1639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3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核心团队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项目负责人</a:t>
            </a:r>
            <a:r>
              <a:rPr lang="en-US" altLang="zh-CN"/>
              <a:t>——</a:t>
            </a:r>
            <a:r>
              <a:rPr lang="zh-CN" altLang="en-US"/>
              <a:t>整体规划，技术架构，</a:t>
            </a:r>
            <a:r>
              <a:rPr lang="zh-CN" altLang="en-US"/>
              <a:t>加密算法设计</a:t>
            </a:r>
            <a:endParaRPr lang="zh-CN" altLang="en-US"/>
          </a:p>
        </p:txBody>
      </p:sp>
      <p:sp>
        <p:nvSpPr>
          <p:cNvPr id="25" name="内容占位符 24"/>
          <p:cNvSpPr>
            <a:spLocks noGrp="1"/>
          </p:cNvSpPr>
          <p:nvPr>
            <p:ph idx="16395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代江宁</a:t>
            </a:r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AI</a:t>
            </a:r>
            <a:r>
              <a:rPr lang="zh-CN" altLang="en-US"/>
              <a:t>算法工程师</a:t>
            </a:r>
            <a:r>
              <a:rPr lang="en-US" altLang="zh-CN"/>
              <a:t>——AI</a:t>
            </a:r>
            <a:r>
              <a:rPr lang="zh-CN" altLang="en-US"/>
              <a:t>模型训练，</a:t>
            </a:r>
            <a:r>
              <a:rPr lang="en-US" altLang="zh-CN"/>
              <a:t>TFLite</a:t>
            </a:r>
            <a:r>
              <a:rPr lang="zh-CN" altLang="en-US"/>
              <a:t>部署，</a:t>
            </a:r>
            <a:r>
              <a:rPr lang="zh-CN" altLang="en-US"/>
              <a:t>手势识别</a:t>
            </a:r>
            <a:endParaRPr lang="zh-CN" altLang="en-US"/>
          </a:p>
        </p:txBody>
      </p:sp>
      <p:sp>
        <p:nvSpPr>
          <p:cNvPr id="28" name="内容占位符 27"/>
          <p:cNvSpPr>
            <a:spLocks noGrp="1"/>
          </p:cNvSpPr>
          <p:nvPr>
            <p:ph idx="16396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王慧</a:t>
            </a:r>
            <a:r>
              <a:rPr lang="zh-CN" altLang="en-US"/>
              <a:t>平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Android</a:t>
            </a:r>
            <a:r>
              <a:rPr lang="zh-CN" altLang="en-US"/>
              <a:t>开发工程师</a:t>
            </a:r>
            <a:r>
              <a:rPr lang="en-US" altLang="zh-CN"/>
              <a:t>——</a:t>
            </a:r>
            <a:r>
              <a:rPr lang="zh-CN" altLang="en-US"/>
              <a:t>客户端开发，</a:t>
            </a:r>
            <a:r>
              <a:rPr lang="en-US" altLang="zh-CN"/>
              <a:t>UI</a:t>
            </a:r>
            <a:r>
              <a:rPr lang="zh-CN" altLang="en-US"/>
              <a:t>设计，</a:t>
            </a:r>
            <a:r>
              <a:rPr lang="zh-CN" altLang="en-US"/>
              <a:t>无障碍交互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7"/>
            <p:custDataLst>
              <p:tags r:id="rId1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黄浙洋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产品</a:t>
            </a:r>
            <a:r>
              <a:rPr lang="en-US" altLang="zh-CN"/>
              <a:t>/</a:t>
            </a:r>
            <a:r>
              <a:rPr lang="zh-CN" altLang="en-US"/>
              <a:t>市场负责人</a:t>
            </a:r>
            <a:r>
              <a:rPr lang="en-US" altLang="zh-CN"/>
              <a:t>——</a:t>
            </a:r>
            <a:r>
              <a:rPr lang="zh-CN" altLang="en-US"/>
              <a:t>产品规划，市场调研，</a:t>
            </a:r>
            <a:r>
              <a:rPr lang="zh-CN" altLang="en-US"/>
              <a:t>市场推广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蒲洋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11</a:t>
            </a:r>
            <a:endParaRPr lang="en-US" sz="1100"/>
          </a:p>
        </p:txBody>
      </p:sp>
      <p:sp>
        <p:nvSpPr>
          <p:cNvPr id="4" name="AutoShape 4" descr="7b0a2020202022776f7264617274223a2022220a7d0a"/>
          <p:cNvSpPr/>
          <p:nvPr>
            <p:custDataLst>
              <p:tags r:id="rId2"/>
            </p:custDataLst>
          </p:nvPr>
        </p:nvSpPr>
        <p:spPr>
          <a:xfrm>
            <a:off x="85090" y="38608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u="none" strike="noStrike" spc="1000">
                <a:solidFill>
                  <a:srgbClr val="CB0000"/>
                </a:solidFill>
                <a:effectLst/>
                <a:latin typeface="字魂馆藏山海经体" panose="00000500000000000000" charset="-122"/>
                <a:ea typeface="字魂馆藏山海经体" panose="00000500000000000000" charset="-122"/>
                <a:cs typeface="Noto Sans SC" panose="020B0200000000000000" charset="-122"/>
                <a:sym typeface="Noto Sans SC" panose="020B0200000000000000" charset="-122"/>
              </a:rPr>
              <a:t>社会效益</a:t>
            </a:r>
            <a:endParaRPr lang="en-US" sz="8000" u="none" strike="noStrike" spc="1000">
              <a:solidFill>
                <a:srgbClr val="CB0000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技术的温度，源于被需要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47700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我们做这个项目，不是为了获奖，不是为了融资，甚至不是为了证明我们的技术有多强。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我们做这个项目，是因为这些痛点就摆在那里，而我们恰好有能力去解决它。</a:t>
            </a:r>
            <a:endParaRPr lang="en-US" sz="15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6477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0800" cy="736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60960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如果我们的技术，能让一位听障人士在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火灾中安全逃生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6477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" cy="736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60960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如果我们的技术，能让一位独居听障老人及时被发现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跌倒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6477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0800" cy="736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60960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如果我们的技术，能让一位听障学生不再因为听不见闹钟而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错过人生重要的时刻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6477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那这个项目，就已经成功了。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867400"/>
            <a:ext cx="64770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867400"/>
            <a:ext cx="762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867400"/>
            <a:ext cx="609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技术最大的价值，不是被拥有，而是</a:t>
            </a: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被需要的人使用。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36000" y="1524000"/>
            <a:ext cx="2921000" cy="3962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06400" dist="177800" dir="5400000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e9d5492a87765ef53373c90976c15427cef3b9"/>
  <p:tag name="KSO_WM_NEWLAYOUT_ID" val="slide_8794e0b8cd4312bf"/>
</p:tagLst>
</file>

<file path=ppt/tags/tag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f2aa3c7cd448b3738dd5d474e46428a5315c9a"/>
  <p:tag name="KSO_WM_NEWLAYOUT_ID" val="slide_4c01622d01333152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cef0e8f8e951cbbdbb8164eb6f2e68ecd3fc08"/>
  <p:tag name="KSO_WM_NEWLAYOUT_ID" val="slide_bd70be994dfb37ba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c5b3db378258055cb65713a2c3bc3d821fc323"/>
  <p:tag name="KSO_WM_NEWLAYOUT_ID" val="slide_0e3763c640ea4c61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8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39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0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1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2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3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4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5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f2aa3c7cd448b3738dd5d474e46428a5315c9a"/>
  <p:tag name="KSO_WM_NEWLAYOUT_ID" val="slide_4c01622d01333152"/>
</p:tagLst>
</file>

<file path=ppt/tags/tag47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d"/>
  <p:tag name="KSO_WM_CARDGROUP_LAYOUT_DATA" val="{&quot;cardRct&quot;:[960,2400,3072,7440],&quot;lytRct&quot;:[960,2400,17280,7440],&quot;rct&quot;:[960,2400,17280,7440],&quot;spRct&quot;:[0,0,3071,6559]}"/>
  <p:tag name="KSO_WM_CARDGROUP_ID" val="1917484f55334d9fa01ed1cef09911b4"/>
  <p:tag name="KSO_WM_CARDGROUP_FEATURE" val="2*2*16*0*1"/>
  <p:tag name="KSO_WM_CARDGROUP_STYLE_INFO" val="C1_sc_p2*plain*1"/>
  <p:tag name="KSO_WM_CARDGROUP_REVERSE_POSITION" val="0"/>
  <p:tag name="KSO_WM_SLIDE_FIGMA_DIAGRAM" val="1"/>
  <p:tag name="KSO_WM_UNIT_PRESET_IMAGE_MD4" val="kRAfay825rkT5qL08KQFFw=="/>
</p:tagLst>
</file>

<file path=ppt/tags/tag48.xml><?xml version="1.0" encoding="utf-8"?>
<p:tagLst xmlns:p="http://schemas.openxmlformats.org/presentationml/2006/main"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1_1"/>
  <p:tag name="KSO_WM_UNIT_PRESET_TEXT" val="请在此输入您的文本。"/>
  <p:tag name="KSO_WM_UNIT_TYPE" val="l_h_f"/>
  <p:tag name="KSO_WM_CARDGROUP_LAYOUT_DATA" val="{&quot;cardRct&quot;:[960,2400,3072,7440],&quot;lytRct&quot;:[960,2400,17280,7440],&quot;rct&quot;:[960,2400,17280,7440],&quot;spRct&quot;:[0,6960,3071,7439]}"/>
</p:tagLst>
</file>

<file path=ppt/tags/tag49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d"/>
  <p:tag name="KSO_WM_CARDGROUP_LAYOUT_DATA" val="{&quot;cardRct&quot;:[4512,2400,3072,7440],&quot;lytRct&quot;:[960,2400,17280,7440],&quot;rct&quot;:[960,2400,17280,7440],&quot;spRct&quot;:[3552,0,6623,6559]}"/>
  <p:tag name="KSO_WM_CARDGROUP_ID" val="1917484f55334d9fa01ed1cef09911b4"/>
  <p:tag name="KSO_WM_CARDGROUP_FEATURE" val="2*2*16*0*1"/>
  <p:tag name="KSO_WM_CARDGROUP_STYLE_INFO" val="C1_sc_p2*plain*1"/>
  <p:tag name="KSO_WM_CARDGROUP_REVERSE_POSITION" val="0"/>
  <p:tag name="KSO_WM_SLIDE_FIGMA_DIAGRAM" val="1"/>
  <p:tag name="KSO_WM_UNIT_PRESET_IMAGE_MD4" val="kRAfay825rkT5qL08KQFFw=="/>
</p:tagLst>
</file>

<file path=ppt/tags/tag50.xml><?xml version="1.0" encoding="utf-8"?>
<p:tagLst xmlns:p="http://schemas.openxmlformats.org/presentationml/2006/main"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2_1"/>
  <p:tag name="KSO_WM_UNIT_PRESET_TEXT" val="请在此输入您的文本。"/>
  <p:tag name="KSO_WM_UNIT_TYPE" val="l_h_f"/>
  <p:tag name="KSO_WM_CARDGROUP_LAYOUT_DATA" val="{&quot;cardRct&quot;:[4512,2400,3072,7440],&quot;lytRct&quot;:[960,2400,17280,7440],&quot;rct&quot;:[960,2400,17280,7440],&quot;spRct&quot;:[3552,6960,6623,7439]}"/>
</p:tagLst>
</file>

<file path=ppt/tags/tag51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d"/>
  <p:tag name="KSO_WM_CARDGROUP_LAYOUT_DATA" val="{&quot;cardRct&quot;:[8064,2400,3072,7440],&quot;lytRct&quot;:[960,2400,17280,7440],&quot;rct&quot;:[960,2400,17280,7440],&quot;spRct&quot;:[7104,0,10175,6559]}"/>
  <p:tag name="KSO_WM_CARDGROUP_ID" val="1917484f55334d9fa01ed1cef09911b4"/>
  <p:tag name="KSO_WM_CARDGROUP_FEATURE" val="2*2*16*0*1"/>
  <p:tag name="KSO_WM_CARDGROUP_STYLE_INFO" val="C1_sc_p2*plain*1"/>
  <p:tag name="KSO_WM_CARDGROUP_REVERSE_POSITION" val="0"/>
  <p:tag name="KSO_WM_SLIDE_FIGMA_DIAGRAM" val="1"/>
  <p:tag name="KSO_WM_UNIT_PRESET_IMAGE_MD4" val="kRAfay825rkT5qL08KQFFw=="/>
</p:tagLst>
</file>

<file path=ppt/tags/tag52.xml><?xml version="1.0" encoding="utf-8"?>
<p:tagLst xmlns:p="http://schemas.openxmlformats.org/presentationml/2006/main"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3_1"/>
  <p:tag name="KSO_WM_UNIT_PRESET_TEXT" val="请在此输入您的文本。"/>
  <p:tag name="KSO_WM_UNIT_TYPE" val="l_h_f"/>
  <p:tag name="KSO_WM_CARDGROUP_LAYOUT_DATA" val="{&quot;cardRct&quot;:[8064,2400,3072,7440],&quot;lytRct&quot;:[960,2400,17280,7440],&quot;rct&quot;:[960,2400,17280,7440],&quot;spRct&quot;:[7104,6960,10175,7439]}"/>
</p:tagLst>
</file>

<file path=ppt/tags/tag5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d"/>
  <p:tag name="KSO_WM_CARDGROUP_LAYOUT_DATA" val="{&quot;cardRct&quot;:[11616,2400,3072,7440],&quot;lytRct&quot;:[960,2400,17280,7440],&quot;rct&quot;:[960,2400,17280,7440],&quot;spRct&quot;:[10656,0,13727,6559]}"/>
  <p:tag name="KSO_WM_CARDGROUP_ID" val="1917484f55334d9fa01ed1cef09911b4"/>
  <p:tag name="KSO_WM_CARDGROUP_FEATURE" val="2*2*16*0*1"/>
  <p:tag name="KSO_WM_CARDGROUP_STYLE_INFO" val="C1_sc_p2*plain*1"/>
  <p:tag name="KSO_WM_CARDGROUP_REVERSE_POSITION" val="0"/>
  <p:tag name="KSO_WM_SLIDE_FIGMA_DIAGRAM" val="1"/>
  <p:tag name="KSO_WM_UNIT_PRESET_IMAGE_MD4" val="kRAfay825rkT5qL08KQFFw=="/>
</p:tagLst>
</file>

<file path=ppt/tags/tag54.xml><?xml version="1.0" encoding="utf-8"?>
<p:tagLst xmlns:p="http://schemas.openxmlformats.org/presentationml/2006/main"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4_1"/>
  <p:tag name="KSO_WM_UNIT_PRESET_TEXT" val="请在此输入您的文本。"/>
  <p:tag name="KSO_WM_UNIT_TYPE" val="l_h_f"/>
  <p:tag name="KSO_WM_CARDGROUP_LAYOUT_DATA" val="{&quot;cardRct&quot;:[11616,2400,3072,7440],&quot;lytRct&quot;:[960,2400,17280,7440],&quot;rct&quot;:[960,2400,17280,7440],&quot;spRct&quot;:[10655,6960,13726,7439]}"/>
</p:tagLst>
</file>

<file path=ppt/tags/tag55.xml><?xml version="1.0" encoding="utf-8"?>
<p:tagLst xmlns:p="http://schemas.openxmlformats.org/presentationml/2006/main">
  <p:tag name="KSO_WM_UNIT_PRESET_IMAGE_MD4" val="kRAfay825rkT5qL08KQFFw=="/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5_1"/>
  <p:tag name="KSO_WM_UNIT_TYPE" val="l_h_d"/>
  <p:tag name="KSO_WM_CARDGROUP_LAYOUT_DATA" val="{&quot;cardRct&quot;:[15168,2400,3072,7440],&quot;lytRct&quot;:[960,2400,17280,7440],&quot;rct&quot;:[960,2400,17280,7440],&quot;spRct&quot;:[14208,0,17279,6559]}"/>
</p:tagLst>
</file>

<file path=ppt/tags/tag56.xml><?xml version="1.0" encoding="utf-8"?>
<p:tagLst xmlns:p="http://schemas.openxmlformats.org/presentationml/2006/main">
  <p:tag name="KSO_WM_BEAUTIFY_FLAG" val="#wm#"/>
  <p:tag name="KSO_WM_CARDGROUP_FEATURE" val="2*2*16*0*1"/>
  <p:tag name="KSO_WM_CARDGROUP_ID" val="1917484f55334d9fa01ed1cef09911b4"/>
  <p:tag name="KSO_WM_CARDGROUP_REVERSE_POSITION" val="0"/>
  <p:tag name="KSO_WM_CARDGROUP_STYLE_INFO" val="C1_sc_p2*plain*1"/>
  <p:tag name="KSO_WM_FIGMA_FLAG" val="#fgm#"/>
  <p:tag name="KSO_WM_SLIDE_FIGMA_DIAGRAM" val="1"/>
  <p:tag name="KSO_WM_UNIT_INDEX" val="1_5_1"/>
  <p:tag name="KSO_WM_UNIT_PRESET_TEXT" val="请在此输入您的文本。"/>
  <p:tag name="KSO_WM_UNIT_TYPE" val="l_h_f"/>
  <p:tag name="KSO_WM_CARDGROUP_LAYOUT_DATA" val="{&quot;cardRct&quot;:[15168,2400,3072,7440],&quot;lytRct&quot;:[960,2400,17280,7440],&quot;rct&quot;:[960,2400,17280,7440],&quot;spRct&quot;:[14208,6960,17279,7439]}"/>
</p:tagLst>
</file>

<file path=ppt/tags/tag57.xml><?xml version="1.0" encoding="utf-8"?>
<p:tagLst xmlns:p="http://schemas.openxmlformats.org/presentationml/2006/main">
  <p:tag name="KSO_WM_SLIDE_TYPE" val="text"/>
</p:tagLst>
</file>

<file path=ppt/tags/tag58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c5b3db378258055cb65713a2c3bc3d821fc323"/>
  <p:tag name="KSO_WM_NEWLAYOUT_ID" val="slide_0e3763c640ea4c61"/>
</p:tagLst>
</file>

<file path=ppt/tags/tag60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61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62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63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64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cef0e8f8e951cbbdbb8164eb6f2e68ecd3fc08"/>
  <p:tag name="KSO_WM_NEWLAYOUT_ID" val="slide_bd70be994dfb37b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bd70be994dfb37ba"/>
</p:tagLst>
</file>

<file path=ppt/tags/tag79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80.xml><?xml version="1.0" encoding="utf-8"?>
<p:tagLst xmlns:p="http://schemas.openxmlformats.org/presentationml/2006/main">
  <p:tag name="KSO_DOCER_RESOURCE_TRACE_INFO" val="{&quot;id&quot;:&quot;25125218&quot;,&quot;origin&quot;:0,&quot;type&quot;:&quot;wordart&quot;,&quot;user&quot;:&quot;1808842049&quot;}"/>
</p:tagLst>
</file>

<file path=ppt/tags/tag81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3778</Words>
  <Application>WPS 演示</Application>
  <PresentationFormat>宽屏</PresentationFormat>
  <Paragraphs>369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Arial</vt:lpstr>
      <vt:lpstr>字魂馆藏山海经体</vt:lpstr>
      <vt:lpstr>Noto Sans SC</vt:lpstr>
      <vt:lpstr>Songti SC</vt:lpstr>
      <vt:lpstr>Poppins</vt:lpstr>
      <vt:lpstr>微软雅黑</vt:lpstr>
      <vt:lpstr>Arial Unicode MS</vt:lpstr>
      <vt:lpstr>KSOFC9B4417F</vt:lpstr>
      <vt:lpstr>Poppins</vt:lpstr>
      <vt:lpstr>Songti SC</vt:lpstr>
      <vt:lpstr>A new day begins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核心团队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萌驮植廊</cp:lastModifiedBy>
  <cp:revision>6</cp:revision>
  <dcterms:created xsi:type="dcterms:W3CDTF">2026-07-30T11:38:00Z</dcterms:created>
  <dcterms:modified xsi:type="dcterms:W3CDTF">2026-07-30T14:27:01Z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{"Label":"1","ContentProducer":"001191110102MACQD9K64010000","ProduceID":"7668270865636838330","ReservedCode1":"","ContentPropagator":"","PropagateID":"","ReservedCode2":""}</vt:lpwstr>
  </property>
  <property fmtid="{D5CDD505-2E9C-101B-9397-08002B2CF9AE}" pid="3" name="ICV">
    <vt:lpwstr>F98C4F405C364BA0842328948FBC1350_13</vt:lpwstr>
  </property>
  <property fmtid="{D5CDD505-2E9C-101B-9397-08002B2CF9AE}" pid="4" name="KSOProductBuildVer">
    <vt:lpwstr>2052-12.1.0.26375</vt:lpwstr>
  </property>
</Properties>
</file>