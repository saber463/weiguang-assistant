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FF6F00"/>
          </a:solidFill>
          <a:ln/>
          <a:effectLst>
            <a:outerShdw sx="100000" sy="100000" kx="0" ky="0" algn="bl" rotWithShape="0" blurRad="508000" dist="50800" dir="16200000">
              <a:srgbClr val="FF6F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0" y="640080"/>
            <a:ext cx="3410712" cy="384048"/>
          </a:xfrm>
          <a:prstGeom prst="roundRect">
            <a:avLst>
              <a:gd name="adj" fmla="val 47619"/>
            </a:avLst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4389120" y="640080"/>
            <a:ext cx="3410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2026 AI助残创新创意大赛 · 创意赛道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94457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微光守护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多模态无声安全预警系统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114800" y="3383280"/>
            <a:ext cx="3959352" cy="2743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6576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BD5E1"/>
                </a:solidFill>
              </a:rPr>
              <a:t>以 AI 之手，搭建听障人士与世界沟通的桥梁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475488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微光科技（WeiGuang Tech）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516636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天府新区通用航空职业学院  |  2026 年 7 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6F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97280" y="1417320"/>
            <a:ext cx="329184" cy="329184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417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3898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项目背景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16093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2700 万听障人士的安全困境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52728" y="1773936"/>
            <a:ext cx="18288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1837944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1837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18105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痛点分析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45920" y="20299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六大日常安全核心痛点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52728" y="2194560"/>
            <a:ext cx="18288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7280" y="2258568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2258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223113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产品方案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45920" y="24505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多模态安全预警系统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52728" y="2615184"/>
            <a:ext cx="18288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7280" y="2679192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2679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45920" y="2651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核心功能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45920" y="287121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手势识别 · 商品识别 · 端侧 AI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252728" y="3035808"/>
            <a:ext cx="18288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7280" y="3099816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30998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45920" y="30723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技术架构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645920" y="32918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四层架构 · 端侧推理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252728" y="3456432"/>
            <a:ext cx="18288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3" name="Shape 31"/>
          <p:cNvSpPr/>
          <p:nvPr/>
        </p:nvSpPr>
        <p:spPr>
          <a:xfrm>
            <a:off x="1097280" y="352044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0" y="3520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645920" y="34930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加密引擎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645920" y="37124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WeiGuang-Secure 零知识加密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252728" y="3877056"/>
            <a:ext cx="18288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8" name="Shape 36"/>
          <p:cNvSpPr/>
          <p:nvPr/>
        </p:nvSpPr>
        <p:spPr>
          <a:xfrm>
            <a:off x="1097280" y="3941064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39410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645920" y="39136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创新亮点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645920" y="413308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五大核心技术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252728" y="4297680"/>
            <a:ext cx="18288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3" name="Shape 41"/>
          <p:cNvSpPr/>
          <p:nvPr/>
        </p:nvSpPr>
        <p:spPr>
          <a:xfrm>
            <a:off x="1097280" y="4361688"/>
            <a:ext cx="329184" cy="32918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4" name="Text 42"/>
          <p:cNvSpPr/>
          <p:nvPr/>
        </p:nvSpPr>
        <p:spPr>
          <a:xfrm>
            <a:off x="1097280" y="4361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645920" y="43342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商业模式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645920" y="45537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B2B2C · 免费增值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252728" y="4718304"/>
            <a:ext cx="18288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8" name="Shape 46"/>
          <p:cNvSpPr/>
          <p:nvPr/>
        </p:nvSpPr>
        <p:spPr>
          <a:xfrm>
            <a:off x="1097280" y="4782312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1097280" y="4782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645920" y="4754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核心团队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645920" y="497433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微光科技成员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252728" y="5138928"/>
            <a:ext cx="18288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3" name="Shape 51"/>
          <p:cNvSpPr/>
          <p:nvPr/>
        </p:nvSpPr>
        <p:spPr>
          <a:xfrm>
            <a:off x="1097280" y="5202936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1097280" y="52029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645920" y="51755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社会效益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645920" y="5394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科技向善 · 行业推动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252728" y="5559552"/>
            <a:ext cx="18288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8" name="Shape 56"/>
          <p:cNvSpPr/>
          <p:nvPr/>
        </p:nvSpPr>
        <p:spPr>
          <a:xfrm>
            <a:off x="1097280" y="5623560"/>
            <a:ext cx="329184" cy="329184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59" name="Text 57"/>
          <p:cNvSpPr/>
          <p:nvPr/>
        </p:nvSpPr>
        <p:spPr>
          <a:xfrm>
            <a:off x="1097280" y="5623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645920" y="55961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发展规划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645920" y="58155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三步走战略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252728" y="5980176"/>
            <a:ext cx="18288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3" name="Shape 61"/>
          <p:cNvSpPr/>
          <p:nvPr/>
        </p:nvSpPr>
        <p:spPr>
          <a:xfrm>
            <a:off x="1097280" y="6044184"/>
            <a:ext cx="329184" cy="329184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64" name="Text 62"/>
          <p:cNvSpPr/>
          <p:nvPr/>
        </p:nvSpPr>
        <p:spPr>
          <a:xfrm>
            <a:off x="1097280" y="60441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12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1645920" y="60167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致谢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1645920" y="623620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感谢聆听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686800" y="1371600"/>
            <a:ext cx="4114800" cy="4114800"/>
          </a:xfrm>
          <a:prstGeom prst="ellipse">
            <a:avLst/>
          </a:prstGeom>
          <a:solidFill>
            <a:srgbClr val="FF6F00"/>
          </a:solidFill>
          <a:ln/>
          <a:effectLst>
            <a:outerShdw sx="100000" sy="100000" kx="0" ky="0" algn="bl" rotWithShape="0" blurRad="381000" dist="50800" dir="16200000">
              <a:srgbClr val="FF6F00">
                <a:alpha val="1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8686800" y="22860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微光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守护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3 / 15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中国有超过 2700 万听障人士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他们在日常生活中，面临着常人难以想象的安全威胁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1920240"/>
            <a:ext cx="1554480" cy="3657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F00"/>
                </a:solidFill>
              </a:rPr>
              <a:t>2,700万+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听障人士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占全国残疾人约 30%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17373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23360" y="1920240"/>
            <a:ext cx="15544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103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</a:rPr>
              <a:t>2-3万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6616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每年新增听障儿童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数据来源：中国残联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920240"/>
            <a:ext cx="15544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103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</a:rPr>
              <a:t>95%+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手机覆盖率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Android 7.0+ 设备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235440" y="173736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92640" y="1920240"/>
            <a:ext cx="1554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2103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</a:rPr>
              <a:t>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23544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全场景 AI 方案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目前市场空白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420624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2062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9800"/>
                </a:solidFill>
              </a:rPr>
              <a:t>听不见闹钟 · 听不见火警 · 感知不到燃气泄漏 · 察觉不到异常敲门 · 跌倒无法呼救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6634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这些 "听不见" 的困境，每时每刻都在威胁着 2700 万听障人士的生命安全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数据来源：中国残疾人联合会 · 世界卫生组织 · 中国信通院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六大核心痛点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覆盖听障人士日常安全的所有关键场景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4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9050">
            <a:solidFill>
              <a:srgbClr val="FF6F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34440"/>
            <a:ext cx="352044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173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⏰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听不见闹钟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传统声音闹钟完全无效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错过重要日程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45920" y="3063240"/>
            <a:ext cx="1325880" cy="292608"/>
          </a:xfrm>
          <a:prstGeom prst="roundRect">
            <a:avLst>
              <a:gd name="adj" fmla="val 46875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30632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中风险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43400" y="12344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234440"/>
            <a:ext cx="35204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14173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🔥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26280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听不见火警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17720" y="2331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生命安全受严重威胁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火灾警报无法感知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0680" y="3063240"/>
            <a:ext cx="1325880" cy="292608"/>
          </a:xfrm>
          <a:prstGeom prst="roundRect">
            <a:avLst>
              <a:gd name="adj" fmla="val 46875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5440680" y="30632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极高风险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138160" y="12344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1234440"/>
            <a:ext cx="35204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14173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💨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321040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感知不到燃气泄漏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12480" y="2331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中毒和爆炸风险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低频异响无法察觉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35440" y="3063240"/>
            <a:ext cx="1325880" cy="292608"/>
          </a:xfrm>
          <a:prstGeom prst="roundRect">
            <a:avLst>
              <a:gd name="adj" fmla="val 46875"/>
            </a:avLst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9235440" y="30632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极高风险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840480"/>
            <a:ext cx="35204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0233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🚪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31520" y="45720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察觉不到异常敲门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2960" y="49377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居家安全存隐患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无法分辨敲门类型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645920" y="5669280"/>
            <a:ext cx="1325880" cy="292608"/>
          </a:xfrm>
          <a:prstGeom prst="roundRect">
            <a:avLst>
              <a:gd name="adj" fmla="val 46875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1645920" y="566928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高风险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43400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43400" y="3840480"/>
            <a:ext cx="35204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4343400" y="40233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🩺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4526280" y="45720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健康监测缺失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617720" y="49377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病理性咳嗽难以评估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缺乏健康预警手段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40680" y="5669280"/>
            <a:ext cx="1325880" cy="292608"/>
          </a:xfrm>
          <a:prstGeom prst="roundRect">
            <a:avLst>
              <a:gd name="adj" fmla="val 46875"/>
            </a:avLst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5440680" y="566928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中风险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138160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138160" y="3840480"/>
            <a:ext cx="35204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8138160" y="40233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🆘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8321040" y="45720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跌倒无法呼救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412480" y="49377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错过黄金救援时间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无法语音呼叫求助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235440" y="5669280"/>
            <a:ext cx="1325880" cy="292608"/>
          </a:xfrm>
          <a:prstGeom prst="roundRect">
            <a:avLst>
              <a:gd name="adj" fmla="val 46875"/>
            </a:avLst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9235440" y="566928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极高风险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产品方案设计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 多模态安全预警系统 — 六大核心模块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5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FF6F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34440"/>
            <a:ext cx="54864" cy="22860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18745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触觉唤醒引擎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振动 + 闪光双通道唤醒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三种振动模式 · 双重关闭验证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80160" y="3246120"/>
            <a:ext cx="2057400" cy="2743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2344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1234440"/>
            <a:ext cx="54864" cy="2286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0" y="18745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火灾声纹预警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17720" y="22860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CNN + Mel 频谱图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准确率 &gt;95% · 全屏红色预警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4920" y="3246120"/>
            <a:ext cx="2057400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12344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8160" y="123444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💨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366760" y="18745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燃气泄漏预警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2480" y="22860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8kHz 低频 MFCC 检测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轻量 CNN &lt;500K · 四步处置指南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69680" y="3246120"/>
            <a:ext cx="20574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84048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🩺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77240" y="4480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咳嗽健康监测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48920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15 秒滑窗 ≥5 次触发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三级预警 · 健康闭环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280160" y="5852160"/>
            <a:ext cx="20574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Shape 30"/>
          <p:cNvSpPr/>
          <p:nvPr/>
        </p:nvSpPr>
        <p:spPr>
          <a:xfrm>
            <a:off x="4343400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43400" y="3840480"/>
            <a:ext cx="54864" cy="2286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448056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🚪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4572000" y="4480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敲门安防预警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617720" y="48920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3 秒密度分析算法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七级安全评估 · 手语沟通面板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74920" y="5852160"/>
            <a:ext cx="205740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8" name="Shape 36"/>
          <p:cNvSpPr/>
          <p:nvPr/>
        </p:nvSpPr>
        <p:spPr>
          <a:xfrm>
            <a:off x="8138160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38160" y="3840480"/>
            <a:ext cx="54864" cy="2286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827532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🆘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8366760" y="4480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跌倒检测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412480" y="48920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传感器 + 摄像头双重确认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30 秒自动派发应急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869680" y="5852160"/>
            <a:ext cx="2057400" cy="27432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手势识别与双向手语交互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11 种手势实时识别 · 100% 端侧推理 · 识别速度 &lt; 1ms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6 / 15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0292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645920"/>
                <a:gridCol w="23774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✊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握拳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SOS 紧急求助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手掌张开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停止 / 问候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竖大拇指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 / 好的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👎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拇指朝下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不好 / 拒绝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☝️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食指指向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指向方向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✌️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剪刀手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胜利 / 和平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OK 手势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没问题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摆手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你好 / 再见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🫶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谢谢 / 爱你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🤙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打电话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联系我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😐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无手势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待机状态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52160" y="1280160"/>
            <a:ext cx="5852160" cy="493776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核心技术指标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1975104"/>
            <a:ext cx="182880" cy="18288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01952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MediaPipe Hand Landmarker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92240" y="21214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21 点手部关键点检测，Google 开源模型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72200" y="2505456"/>
            <a:ext cx="182880" cy="18288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2432304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GestureVectorDB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92240" y="265176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自研手势质心向量数据库，余弦相似度匹配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72200" y="3035808"/>
            <a:ext cx="182880" cy="18288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8" name="Text 15"/>
          <p:cNvSpPr/>
          <p:nvPr/>
        </p:nvSpPr>
        <p:spPr>
          <a:xfrm>
            <a:off x="6492240" y="2962656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识别速度 &lt; 1ms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92240" y="318211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100 个质心向量余弦相似度计算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72200" y="3566160"/>
            <a:ext cx="182880" cy="18288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349300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100% 端侧推理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492240" y="3712464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无网络依赖，隐私数据不出设备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172200" y="4096512"/>
            <a:ext cx="182880" cy="18288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24" name="Text 21"/>
          <p:cNvSpPr/>
          <p:nvPr/>
        </p:nvSpPr>
        <p:spPr>
          <a:xfrm>
            <a:off x="6492240" y="4023360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SOS 握拳自动触发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492240" y="4242816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TTS 语音播报 + 紧急联系人通知 + 10 秒防重复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172200" y="4626864"/>
            <a:ext cx="182880" cy="18288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27" name="Text 24"/>
          <p:cNvSpPr/>
          <p:nvPr/>
        </p:nvSpPr>
        <p:spPr>
          <a:xfrm>
            <a:off x="6492240" y="4553712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双向手语交互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492240" y="477316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手势 → 文字 识别 + 文字 → 手语 动画生成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172200" y="5157216"/>
            <a:ext cx="182880" cy="18288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30" name="Text 27"/>
          <p:cNvSpPr/>
          <p:nvPr/>
        </p:nvSpPr>
        <p:spPr>
          <a:xfrm>
            <a:off x="6492240" y="5084064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增量更新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492240" y="53035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支持 100+ 手势扩展，无需重新安装 APP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172200" y="5687568"/>
            <a:ext cx="182880" cy="18288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33" name="Text 30"/>
          <p:cNvSpPr/>
          <p:nvPr/>
        </p:nvSpPr>
        <p:spPr>
          <a:xfrm>
            <a:off x="6492240" y="5614416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80+ 商品词库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492240" y="583387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OCR 商品识别，辅助购物独立生活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端侧 AI + 零知识加密 + 离线优先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7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97280" y="1280160"/>
            <a:ext cx="9966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1750">
            <a:solidFill>
              <a:srgbClr val="FF6F0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128016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F6F0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2801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应用层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13898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Jetpack Compose + Material3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1783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 大模块统一设计语言 · 适配 Android 7.0+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2514600"/>
            <a:ext cx="9966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97280" y="251460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5146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推理层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26243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TensorFlow Lite + ONNX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CNN / RNN 端侧推理 · INT8 量化 &lt;2MB · 离线运行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3749040"/>
            <a:ext cx="9966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175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97280" y="37490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7490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数据层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51760" y="38587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Room + SQLite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5176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本地持久化存储 · 数据不出设备 · WiFi 仅用于密文同步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97280" y="4983480"/>
            <a:ext cx="9966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175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97280" y="498348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98348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安全层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51760" y="50932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WeiGuang-Secure 加密引擎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51760" y="5486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RSA-2048 + AES-256-GCM · 零知识架构 · 服务端不可解密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5943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端侧推理优势对比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5760720"/>
          <a:ext cx="6949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32918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云端推理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端侧推理（本项目）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网络依赖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必须联网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零网络依赖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延迟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100-500ms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50ms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隐私保护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数据上传云端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数据不出设备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持续服务费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零运营成本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8 / 15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WeiGuang-Secure 端到端加密引擎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A- 级 → A+ 级持续演进 · 零知识架构 · NIST STS + Wycheproof 权威验证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932688"/>
            <a:ext cx="3044952" cy="1828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11274552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9050">
            <a:solidFill>
              <a:srgbClr val="FF6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45720" cy="65836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22529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6F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25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ECDH + RSA 混合密钥交换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44475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X25519 为主 · RSA-2048 降级 · 预留 Kyber 抗量子接口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32320" y="120700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X25519 256 bits + RSA-2048 · ECDHE 前向安全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847088"/>
            <a:ext cx="45720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19751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975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18928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AES-GCM + ChaCha20 双引擎加密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219456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高端 AES-NI 加速 · 低端 ChaCha20 抗侧信道 · GCM-SIV 抗误用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132320" y="19568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256 bits · 128-bit 标签 · 自适应引擎切换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596896"/>
            <a:ext cx="11274552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596896"/>
            <a:ext cx="45720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27249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724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26426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Keystore TEE + 生物特征绑定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294436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硬件隔离存储 · 指纹/人脸门控 · 手机丢失无法解密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132320" y="27066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不可导出 · root 免疫 · 每次操作独立认证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3474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</a:rPr>
              <a:t>V2.0 五大核心升级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40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" y="4114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ECDH (X25519) 密钥交换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8640" y="43708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速度更快，前向安全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0" y="379476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3840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834640" y="4114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ChaCha20 移动端引擎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834640" y="43708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低端机性能提升 50%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029200" y="379476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840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20640" y="4114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AES-GCM-SIV 抗误用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120640" y="43708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IV 重复也不泄露密钥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315200" y="379476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3840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🫵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06640" y="4114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生物特征绑定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406640" y="43708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手机丢失无法解密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601200" y="379476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0" y="3840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🔮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692640" y="4114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Kyber 抗量子预备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692640" y="43708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为量子时代做好准备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57200" y="49377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</a:rPr>
              <a:t>雪崩效应测试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166360"/>
          <a:ext cx="4572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20116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测试类型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实测值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密钥雪崩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49.98%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通过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明文雪崩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50.04%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通过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IV 雪崩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49.96%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通过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认证标签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 不匹配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通过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1" name="Text 48"/>
          <p:cNvSpPr/>
          <p:nvPr/>
        </p:nvSpPr>
        <p:spPr>
          <a:xfrm>
            <a:off x="5486400" y="49377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</a:rPr>
              <a:t>密钥轮换安全收益</a:t>
            </a:r>
            <a:endParaRPr lang="en-US" sz="10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5166360"/>
          <a:ext cx="6217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30175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无轮换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本项目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密钥泄露影响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全部数据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5 分钟窗口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攻击时间窗口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无限期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最多 5 分钟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暴力破解成本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破解一次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 5 分钟一次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3" name="Shape 49"/>
          <p:cNvSpPr/>
          <p:nvPr/>
        </p:nvSpPr>
        <p:spPr>
          <a:xfrm>
            <a:off x="457200" y="6172200"/>
            <a:ext cx="11274552" cy="347472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40080" y="6199632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安全结论：服务端看不到 · 黑客攻不破 · 丢失读不了 — 真正实现零知识安全目标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加密方案演进路线图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WeiGuang-Secure 从 A- 到 A+ 的持续进化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9 / 15</a:t>
            </a:r>
            <a:endParaRPr lang="en-US" sz="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286000"/>
                <a:gridCol w="2560320"/>
                <a:gridCol w="30449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演进维度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V1.0 当前方案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V2.0 升级方案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V3.0 远期抗量子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预期收益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密钥交换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RSA-2048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ECDH (X25519) 为主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X25519 + Kyber-1024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前向安全 + 抗量子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加密算法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AES-256-GCM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ChaCha20 双引擎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ChaCha20 为主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低端机性能 +50%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抗误用性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 GCM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AES-GCM-SIV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全场景 SIV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IV 重复不崩塌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密钥保护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TEE 存储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生物特征绑定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硬件安全模块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丢失无法解密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密钥轮换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固定时间/数据量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动态自适应触发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预测轮换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风险响应 100x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后量子安全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预留 Kyber 接口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混合密钥交换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量子时代预备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3891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4389120"/>
            <a:ext cx="35661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移动端优化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4937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ChaCha20 纯软件实现，中低端芯片性能提升 30-50%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97680" y="43891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97680" y="4389120"/>
            <a:ext cx="35661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2"/>
          <p:cNvSpPr/>
          <p:nvPr/>
        </p:nvSpPr>
        <p:spPr>
          <a:xfrm>
            <a:off x="448056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抗量子预备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480560" y="4937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预留 Kyber-1024 接口，未来无缝升级至后量子密码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138160" y="43891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38160" y="4389120"/>
            <a:ext cx="35661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832104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纵深防御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21040" y="4937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五重安全维度覆盖，从密钥交换到硬件保护全链路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6126480"/>
            <a:ext cx="11274552" cy="365760"/>
          </a:xfrm>
          <a:prstGeom prst="roundRect">
            <a:avLst>
              <a:gd name="adj" fmla="val 15000"/>
            </a:avLst>
          </a:prstGeom>
          <a:solidFill>
            <a:srgbClr val="E65100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当前方案已是 A- 级优秀方案 → 持续演进至 A+ 乃至 S 级（军工/金融级）安全标准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项目创新亮点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五大核心技术 + 三大模式创新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10 / 15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9050">
            <a:solidFill>
              <a:srgbClr val="FF6F0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34440"/>
            <a:ext cx="54864" cy="14630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37160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FF6F0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371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1344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WeiGuang-Secure 加密引擎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16916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ECDH + AES-GCM/ChaCha20 双引擎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NIST STS + Wycheproof 权威验证 · 零知识架构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92608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0632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632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0358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GestureVectorDB 手势向量库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3832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11 种手势质心向量存储匹配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余弦相似度 &lt;1ms · 100+ 手势增量更新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61772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75488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7548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47274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端侧 AI 全离线推理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50749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CNN / RNN INT8 量化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模型 &lt;2MB · 推理 &lt;50ms · 100% 本地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123444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1234440"/>
            <a:ext cx="54864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Shape 26"/>
          <p:cNvSpPr/>
          <p:nvPr/>
        </p:nvSpPr>
        <p:spPr>
          <a:xfrm>
            <a:off x="6492240" y="137160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1371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32320" y="1344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多模态融合检测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16916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传感器 + 摄像头双重确认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音频 + 振动 + 视觉三通道联合预警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292608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09360" y="2926080"/>
            <a:ext cx="54864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Shape 32"/>
          <p:cNvSpPr/>
          <p:nvPr/>
        </p:nvSpPr>
        <p:spPr>
          <a:xfrm>
            <a:off x="6492240" y="306324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30632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32320" y="30358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双向手语交互系统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32320" y="33832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手势 → 文字：实时识别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文字 → 手势：动画生成 · SOS 自动 TTS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模式创新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530352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FF6F00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离线优先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5715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核心功能 100% 离线运行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97680" y="530352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FF6F00"/>
          </a:solidFill>
          <a:ln/>
        </p:spPr>
      </p:sp>
      <p:sp>
        <p:nvSpPr>
          <p:cNvPr id="43" name="Text 41"/>
          <p:cNvSpPr/>
          <p:nvPr/>
        </p:nvSpPr>
        <p:spPr>
          <a:xfrm>
            <a:off x="4297680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隐私保护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297680" y="5715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零知识架构，数据由用户掌控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46720" y="530352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FF6F00"/>
          </a:solidFill>
          <a:ln/>
        </p:spPr>
      </p:sp>
      <p:sp>
        <p:nvSpPr>
          <p:cNvPr id="46" name="Text 44"/>
          <p:cNvSpPr/>
          <p:nvPr/>
        </p:nvSpPr>
        <p:spPr>
          <a:xfrm>
            <a:off x="8046720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开源策略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046720" y="5715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核心算法 Apache 2.0 开源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商业模式与市场策略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B2B2C + 免费增值，三线并行覆盖目标用户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11 / 15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48640" y="13716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FF6F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429000" y="13716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309360" y="13716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189720" y="13716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265176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1325880" y="1645920"/>
            <a:ext cx="1097280" cy="109728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1325880" y="1645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🏛️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残联 / 社区合作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与各地残联、社区服务中心合作推广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政府采购或补贴模式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0" y="1645920"/>
            <a:ext cx="1097280" cy="10972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1645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📱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6616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免费增值模式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33832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基础功能免费，高级功能付费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唤醒 + 火灾 + 燃气免费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7086600" y="1645920"/>
            <a:ext cx="1097280" cy="10972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1645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🏭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44652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硬件预装合作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33832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与手机厂商 / 智能家居品牌合作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系统级预装，触达更多用户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89720" y="137160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9966960" y="1645920"/>
            <a:ext cx="1097280" cy="10972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0" y="1645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🌍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32688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开源社区生态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0" y="33832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核心算法 Apache 2.0 开源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吸引开发者贡献，接受安全审计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目标市场：2700 万+ 听障人士  ×  零竞品蓝海市场  ×  国家科技助残政策红利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核心团队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微光科技 · 用 AI 的微光，守护无声世界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12 / 15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48640" y="137160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FF6F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29000" y="137160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137160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89720" y="137160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265176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1234440" y="1645920"/>
            <a:ext cx="1280160" cy="128016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蒲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蒲  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3566160"/>
            <a:ext cx="1737360" cy="292608"/>
          </a:xfrm>
          <a:prstGeom prst="roundRect">
            <a:avLst>
              <a:gd name="adj" fmla="val 46875"/>
            </a:avLst>
          </a:prstGeom>
          <a:solidFill>
            <a:srgbClr val="FF6F0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5661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项目负责人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023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整体规划 · 技术架构 · 加密算法设计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0" y="1645920"/>
            <a:ext cx="1280160" cy="1280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代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6616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代江宁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86200" y="3566160"/>
            <a:ext cx="1737360" cy="292608"/>
          </a:xfrm>
          <a:prstGeom prst="roundRect">
            <a:avLst>
              <a:gd name="adj" fmla="val 46875"/>
            </a:avLst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886200" y="35661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算法工程师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4023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AI 模型训练 · TFLite 部署 · 手势识别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6995160" y="1645920"/>
            <a:ext cx="1280160" cy="1280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王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44652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王慧平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766560" y="3566160"/>
            <a:ext cx="1737360" cy="292608"/>
          </a:xfrm>
          <a:prstGeom prst="roundRect">
            <a:avLst>
              <a:gd name="adj" fmla="val 46875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5661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Android 开发工程师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4023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客户端开发 · UI 设计 · 无障碍交互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89720" y="137160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9875520" y="1645920"/>
            <a:ext cx="1280160" cy="12801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黄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932688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黄浙洋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46920" y="3566160"/>
            <a:ext cx="1737360" cy="292608"/>
          </a:xfrm>
          <a:prstGeom prst="roundRect">
            <a:avLst>
              <a:gd name="adj" fmla="val 46875"/>
            </a:avLst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9646920" y="35661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产品 / 市场负责人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26880" y="4023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产品规划 · 用户调研 · 市场推广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所属单位：天府新区通用航空职业学院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13 / 15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社会效益与影响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用科技创新消除听障人士的生活障碍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0" y="1051560"/>
            <a:ext cx="3044952" cy="1828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35204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生命安全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火灾预警、燃气泄漏预警、跌倒检测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直接保护听障人士生命安全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28016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F6F0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280160"/>
            <a:ext cx="352044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4630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🌟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26280" y="19659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生活质量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3317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闹钟唤醒、敲门识别、健康监测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提升日常生活便利性与独立性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28016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280160"/>
            <a:ext cx="35204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4630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321040" y="19659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社会融入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23317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手势识别、双向手语交互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帮助听障人士更好地与外界沟通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794760"/>
            <a:ext cx="35204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77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1520" y="44805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隐私保护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48463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零知识加密架构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确保用户数据安全，树立科技向善典范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379476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43400" y="3794760"/>
            <a:ext cx="35204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4343400" y="3977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526280" y="44805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行业推动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48463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核心算法 Apache 2.0 开源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推动科技助残行业技术进步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379476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8160" y="3794760"/>
            <a:ext cx="352044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3977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321040" y="44805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大赛契合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48463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"科创无碍，智享生活"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AI 创新消除听障生活障碍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182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发展规划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4008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三步走战略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987552"/>
            <a:ext cx="108813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微光科技 · 2026 AI助残创新创意大赛 · 创意赛道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14 / 15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3520440" cy="4389120"/>
          </a:xfrm>
          <a:prstGeom prst="roundRect">
            <a:avLst>
              <a:gd name="adj" fmla="val 3117"/>
            </a:avLst>
          </a:prstGeom>
          <a:solidFill>
            <a:srgbClr val="F8FAFC"/>
          </a:solidFill>
          <a:ln w="25400">
            <a:solidFill>
              <a:srgbClr val="FF6F0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8640" y="1371600"/>
            <a:ext cx="352044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645920"/>
            <a:ext cx="2423160" cy="411480"/>
          </a:xfrm>
          <a:prstGeom prst="roundRect">
            <a:avLst>
              <a:gd name="adj" fmla="val 44444"/>
            </a:avLst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45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第一阶段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F00"/>
                </a:solidFill>
              </a:rPr>
              <a:t>2026 - 2027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产品打磨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80160" y="3017520"/>
            <a:ext cx="20574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3300984"/>
            <a:ext cx="164592" cy="164592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完成 6 大模块产品化开发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88720" y="3685032"/>
            <a:ext cx="164592" cy="164592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630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通过残联渠道小范围试点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88720" y="4069080"/>
            <a:ext cx="164592" cy="164592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4014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收集用户反馈迭代优化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88720" y="4453128"/>
            <a:ext cx="164592" cy="164592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43982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完善无障碍交互体验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1371600"/>
            <a:ext cx="3520440" cy="4389120"/>
          </a:xfrm>
          <a:prstGeom prst="roundRect">
            <a:avLst>
              <a:gd name="adj" fmla="val 3117"/>
            </a:avLst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43400" y="1371600"/>
            <a:ext cx="35204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1645920"/>
            <a:ext cx="2423160" cy="411480"/>
          </a:xfrm>
          <a:prstGeom prst="roundRect">
            <a:avLst>
              <a:gd name="adj" fmla="val 44444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645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第二阶段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43400" y="22402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2027 - 2028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43400" y="26060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规模推广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74920" y="3017520"/>
            <a:ext cx="20574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330098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与各省残联建立合作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83480" y="36850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3630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上线应用商店免费下载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83480" y="406908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4014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开源核心算法社区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83480" y="44531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43982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建立用户社群运营体系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38160" y="1371600"/>
            <a:ext cx="3520440" cy="4389120"/>
          </a:xfrm>
          <a:prstGeom prst="roundRect">
            <a:avLst>
              <a:gd name="adj" fmla="val 3117"/>
            </a:avLst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38160" y="1371600"/>
            <a:ext cx="35204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8686800" y="1645920"/>
            <a:ext cx="2423160" cy="411480"/>
          </a:xfrm>
          <a:prstGeom prst="roundRect">
            <a:avLst>
              <a:gd name="adj" fmla="val 44444"/>
            </a:avLst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0" y="1645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第三阶段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138160" y="22402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2028 - 2029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38160" y="26060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生态构建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869680" y="3017520"/>
            <a:ext cx="20574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9" name="Shape 37"/>
          <p:cNvSpPr/>
          <p:nvPr/>
        </p:nvSpPr>
        <p:spPr>
          <a:xfrm>
            <a:off x="8778240" y="330098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909828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拓展硬件预装合作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778240" y="368503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9098280" y="3630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智能家居 IoT 联动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778240" y="406908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9098280" y="4014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AI 手语翻译深度研发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778240" y="445312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9098280" y="43982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打造听障服务生态平台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FF6F00"/>
          </a:solidFill>
          <a:ln/>
          <a:effectLst>
            <a:outerShdw sx="100000" sy="100000" kx="0" ky="0" algn="bl" rotWithShape="0" blurRad="508000" dist="50800" dir="16200000">
              <a:srgbClr val="FF6F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感谢聆听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9800"/>
                </a:solidFill>
              </a:rPr>
              <a:t>微光守护 —— AI 多模态无声安全预警系统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0" y="2926080"/>
            <a:ext cx="4873752" cy="2743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0040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BD5E1"/>
                </a:solidFill>
              </a:rPr>
              <a:t>以 AI 之手，搭建听障人士与世界沟通的桥梁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微光科技（WeiGuang Tech）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天府新区通用航空职业学院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5212080"/>
            <a:ext cx="3959352" cy="411480"/>
          </a:xfrm>
          <a:prstGeom prst="roundRect">
            <a:avLst>
              <a:gd name="adj" fmla="val 44444"/>
            </a:avLst>
          </a:prstGeom>
          <a:solidFill>
            <a:srgbClr val="1E293B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5212080"/>
            <a:ext cx="3959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800"/>
                </a:solidFill>
              </a:rPr>
              <a:t>演示站：http://47.108.149.191/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585216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核心算法开源：Apache 2.0  |  2026 年 7 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6F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微光守护</dc:title>
  <dc:subject>PptxGenJS Presentation</dc:subject>
  <dc:creator>微光科技</dc:creator>
  <cp:lastModifiedBy>微光科技</cp:lastModifiedBy>
  <cp:revision>1</cp:revision>
  <dcterms:created xsi:type="dcterms:W3CDTF">2026-07-30T07:21:47Z</dcterms:created>
  <dcterms:modified xsi:type="dcterms:W3CDTF">2026-07-30T07:21:47Z</dcterms:modified>
</cp:coreProperties>
</file>