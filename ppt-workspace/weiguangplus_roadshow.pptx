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731520"/>
            <a:ext cx="4114800" cy="4114800"/>
          </a:xfrm>
          <a:prstGeom prst="ellipse">
            <a:avLst/>
          </a:prstGeom>
          <a:solidFill>
            <a:srgbClr val="0066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1828800"/>
            <a:ext cx="2560320" cy="2560320"/>
          </a:xfrm>
          <a:prstGeom prst="ellipse">
            <a:avLst/>
          </a:prstGeom>
          <a:solidFill>
            <a:srgbClr val="00D4FF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3657600"/>
            <a:ext cx="3200400" cy="3200400"/>
          </a:xfrm>
          <a:prstGeom prst="ellipse">
            <a:avLst/>
          </a:prstGeom>
          <a:solidFill>
            <a:srgbClr val="0066FF">
              <a:alpha val="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" cy="4572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46304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微光畅行</a:t>
            </a:r>
            <a:endParaRPr lang="en-US" sz="5600" dirty="0"/>
          </a:p>
        </p:txBody>
      </p:sp>
      <p:sp>
        <p:nvSpPr>
          <p:cNvPr id="7" name="Shape 5"/>
          <p:cNvSpPr/>
          <p:nvPr/>
        </p:nvSpPr>
        <p:spPr>
          <a:xfrm>
            <a:off x="1097280" y="2743200"/>
            <a:ext cx="411480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26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响应「十五五」科技助残号召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全场景无障碍出行助手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97280" y="3840480"/>
            <a:ext cx="3291840" cy="411480"/>
          </a:xfrm>
          <a:prstGeom prst="roundRect">
            <a:avLst>
              <a:gd name="adj" fmla="val 22222"/>
            </a:avLst>
          </a:prstGeom>
          <a:solidFill>
            <a:srgbClr val="0066FF">
              <a:alpha val="30000"/>
            </a:srgbClr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84048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D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+ 自主研发算法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669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7B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5分钟路演 ·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5989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4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政策来源：中国政府网 · 中国残联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A4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数据来源：央视网 · 中国残疾人网 · 搜狐旅游调研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/ 9 页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第2页 · 十五五定了什么新方向？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7B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两个关键政策，指明了方向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200400" cy="2743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371600"/>
            <a:ext cx="11064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73152" cy="1645920"/>
          </a:xfrm>
          <a:prstGeom prst="roundRect">
            <a:avLst/>
          </a:prstGeom>
          <a:solidFill>
            <a:srgbClr val="0066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4630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政策一：科技助残，写入了十五五规划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重点推进「科技助残创新应用」，人工智能上前沿技术要用起来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深入实施《无障碍环境建设法》，物理和数字无障碍一起抓</a:t>
            </a:r>
            <a:pPr indent="0" marL="0">
              <a:lnSpc>
                <a:spcPct val="140000"/>
              </a:lnSpc>
              <a:buNone/>
            </a:pP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【此处插入：国新办发布会官方通知截图 | 可访问网址：https://www.gov.cn/lianbo/fabu/202507/content_7033401.htm】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64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291840"/>
            <a:ext cx="73152" cy="1645920"/>
          </a:xfrm>
          <a:prstGeom prst="round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政策二：从项目化转向制度化保障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推动残疾人事业从「项目化推进」变成「制度化保障」
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重点解决数字无障碍短板，让残疾人平等享受互联网服务</a:t>
            </a:r>
            <a:pPr indent="0" marL="0">
              <a:lnSpc>
                <a:spcPct val="140000"/>
              </a:lnSpc>
              <a:buNone/>
            </a:pP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【此处插入：中国残联「十五五」目标研究截图 | 可访问网址：https://www.cdpf.org.cn/ywpd/llyj/llwz/dc107719d1ac47d89dbe2244a049723f_mobile.htm】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286000" y="5303520"/>
            <a:ext cx="7589520" cy="594360"/>
          </a:xfrm>
          <a:prstGeom prst="roundRect">
            <a:avLst>
              <a:gd name="adj" fmla="val 18462"/>
            </a:avLst>
          </a:prstGeom>
          <a:solidFill>
            <a:srgbClr val="0B1628"/>
          </a:solidFill>
          <a:ln/>
        </p:spPr>
      </p:sp>
      <p:sp>
        <p:nvSpPr>
          <p:cNvPr id="13" name="Text 11"/>
          <p:cNvSpPr/>
          <p:nvPr/>
        </p:nvSpPr>
        <p:spPr>
          <a:xfrm>
            <a:off x="2286000" y="530352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那现实情况怎么样？差距有多大？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/ 9 页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第3页 · 痛点在哪，解决方案就在哪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7B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每个痛点都有对应的功能和自主研发算法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029200" cy="45720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痛点①：出行困难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65%有外出意愿，仅12%成行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交通不便占74%，残疾人无法独立乘坐公交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0" y="15544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6309360" y="1097280"/>
            <a:ext cx="585216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097280"/>
            <a:ext cx="585216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188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公交智能报站+GPS定位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92240" y="1554480"/>
            <a:ext cx="4572000" cy="274320"/>
          </a:xfrm>
          <a:prstGeom prst="roundRect">
            <a:avLst>
              <a:gd name="adj" fmla="val 26667"/>
            </a:avLst>
          </a:prstGeom>
          <a:solidFill>
            <a:srgbClr val="0066FF">
              <a:alpha val="15000"/>
            </a:srgbClr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554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自主研发GPS定位算法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920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B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98080" y="19202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GPS模块 + CameraX + TTS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92608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926080"/>
            <a:ext cx="5029200" cy="45720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175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痛点②：信息缺失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33375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信息服务不足占61%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7490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听障听不到报站、火警、路人说话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33832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6309360" y="2926080"/>
            <a:ext cx="585216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926080"/>
            <a:ext cx="5852160" cy="45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3017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语音转文字+三重强提醒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92240" y="3383280"/>
            <a:ext cx="4572000" cy="274320"/>
          </a:xfrm>
          <a:prstGeom prst="roundRect">
            <a:avLst>
              <a:gd name="adj" fmla="val 26667"/>
            </a:avLst>
          </a:prstGeom>
          <a:solidFill>
            <a:srgbClr val="00BFA5">
              <a:alpha val="15000"/>
            </a:srgbClr>
          </a:solidFill>
          <a:ln w="6350">
            <a:solidFill>
              <a:srgbClr val="00BF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3383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自主研发多模态感知算法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B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98080" y="37490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SpeechRecognizer + VibrationEngine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475488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4754880"/>
            <a:ext cx="5029200" cy="45720"/>
          </a:xfrm>
          <a:prstGeom prst="rect">
            <a:avLst/>
          </a:prstGeom>
          <a:solidFill>
            <a:srgbClr val="FF4757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48463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痛点③：沟通障碍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51663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路人不懂手语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31520" y="55778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突发状况无法电话求助，沟通信息不足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0" y="5212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800" dirty="0"/>
          </a:p>
        </p:txBody>
      </p:sp>
      <p:sp>
        <p:nvSpPr>
          <p:cNvPr id="36" name="Shape 34"/>
          <p:cNvSpPr/>
          <p:nvPr/>
        </p:nvSpPr>
        <p:spPr>
          <a:xfrm>
            <a:off x="6309360" y="4754880"/>
            <a:ext cx="585216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09360" y="4754880"/>
            <a:ext cx="5852160" cy="45720"/>
          </a:xfrm>
          <a:prstGeom prst="rect">
            <a:avLst/>
          </a:prstGeom>
          <a:solidFill>
            <a:srgbClr val="FFB347"/>
          </a:solidFill>
          <a:ln/>
        </p:spPr>
      </p:sp>
      <p:sp>
        <p:nvSpPr>
          <p:cNvPr id="38" name="Text 36"/>
          <p:cNvSpPr/>
          <p:nvPr/>
        </p:nvSpPr>
        <p:spPr>
          <a:xfrm>
            <a:off x="6492240" y="4846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双向手语互通+一键SOS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492240" y="5212080"/>
            <a:ext cx="4572000" cy="274320"/>
          </a:xfrm>
          <a:prstGeom prst="roundRect">
            <a:avLst>
              <a:gd name="adj" fmla="val 26667"/>
            </a:avLst>
          </a:prstGeom>
          <a:solidFill>
            <a:srgbClr val="FFB347">
              <a:alpha val="15000"/>
            </a:srgbClr>
          </a:solidFill>
          <a:ln w="6350">
            <a:solidFill>
              <a:srgbClr val="FFB34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5212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3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自主研发手语识别算法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92240" y="5577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7B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498080" y="55778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MediaPipe底座 + 自研117条短语库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8640" y="585216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0B1628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三大痛点 → 三大自主研发算法 → 十二项核心功能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/ 9 页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0066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00D4F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第4页 · 自主研发算法技术栈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五大核心算法，全部自主研发，适配全残障人群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4572000" cy="2743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09728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111D35"/>
          </a:solidFill>
          <a:ln w="15240">
            <a:solidFill>
              <a:srgbClr val="0066FF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280160"/>
            <a:ext cx="502920" cy="502920"/>
          </a:xfrm>
          <a:prstGeom prst="ellipse">
            <a:avLst/>
          </a:prstGeom>
          <a:solidFill>
            <a:srgbClr val="0066FF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280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280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手语识别算法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187452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 Kit手势检测 + 117条高频短语库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语音↔手语实时互转，双屏对话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011680" y="3017520"/>
            <a:ext cx="1828800" cy="228600"/>
          </a:xfrm>
          <a:prstGeom prst="roundRect">
            <a:avLst>
              <a:gd name="adj" fmla="val 24000"/>
            </a:avLst>
          </a:prstGeom>
          <a:solidFill>
            <a:srgbClr val="0066FF">
              <a:alpha val="20000"/>
            </a:srgbClr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1680" y="3017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297680" y="109728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111D35"/>
          </a:solidFill>
          <a:ln w="1524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280160"/>
            <a:ext cx="502920" cy="502920"/>
          </a:xfrm>
          <a:prstGeom prst="ellipse">
            <a:avLst/>
          </a:prstGeom>
          <a:solidFill>
            <a:srgbClr val="00BFA5">
              <a:alpha val="3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280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💊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0640" y="1280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药品OCR算法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187452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中文文字识别 + 103种药品库匹配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风险分级预警，三色安全指示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3017520"/>
            <a:ext cx="1828800" cy="228600"/>
          </a:xfrm>
          <a:prstGeom prst="roundRect">
            <a:avLst>
              <a:gd name="adj" fmla="val 24000"/>
            </a:avLst>
          </a:prstGeom>
          <a:solidFill>
            <a:srgbClr val="00BFA5">
              <a:alpha val="20000"/>
            </a:srgbClr>
          </a:solidFill>
          <a:ln w="6350">
            <a:solidFill>
              <a:srgbClr val="00BFA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3017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046720" y="109728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111D35"/>
          </a:solidFill>
          <a:ln w="15240">
            <a:solidFill>
              <a:srgbClr val="FF4757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75320" y="1280160"/>
            <a:ext cx="502920" cy="502920"/>
          </a:xfrm>
          <a:prstGeom prst="ellipse">
            <a:avLst/>
          </a:prstGeom>
          <a:solidFill>
            <a:srgbClr val="FF4757">
              <a:alpha val="3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8275320" y="1280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🚌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869680" y="128016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GPS公交算法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75320" y="187452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10条线路预置 + 到站距离计算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到站震动+弹窗双重提醒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509760" y="3017520"/>
            <a:ext cx="1828800" cy="228600"/>
          </a:xfrm>
          <a:prstGeom prst="roundRect">
            <a:avLst>
              <a:gd name="adj" fmla="val 24000"/>
            </a:avLst>
          </a:prstGeom>
          <a:solidFill>
            <a:srgbClr val="FF4757">
              <a:alpha val="20000"/>
            </a:srgbClr>
          </a:solidFill>
          <a:ln w="6350">
            <a:solidFill>
              <a:srgbClr val="FF47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30175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48640" y="365760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111D35"/>
          </a:solidFill>
          <a:ln w="15240">
            <a:solidFill>
              <a:srgbClr val="FFB347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3840480"/>
            <a:ext cx="502920" cy="502920"/>
          </a:xfrm>
          <a:prstGeom prst="ellipse">
            <a:avLst/>
          </a:prstGeom>
          <a:solidFill>
            <a:srgbClr val="FFB347">
              <a:alpha val="3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371600" y="38404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多模态感知算法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" y="44348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20种震动编码 + 场景感知融合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四级告警机制，三重联动提醒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011680" y="5577840"/>
            <a:ext cx="1828800" cy="228600"/>
          </a:xfrm>
          <a:prstGeom prst="roundRect">
            <a:avLst>
              <a:gd name="adj" fmla="val 24000"/>
            </a:avLst>
          </a:prstGeom>
          <a:solidFill>
            <a:srgbClr val="FFB347">
              <a:alpha val="20000"/>
            </a:srgbClr>
          </a:solidFill>
          <a:ln w="6350">
            <a:solidFill>
              <a:srgbClr val="FFB34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11680" y="5577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B3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297680" y="365760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111D35"/>
          </a:solidFill>
          <a:ln w="15240">
            <a:solidFill>
              <a:srgbClr val="00D4FF"/>
            </a:solidFill>
            <a:prstDash val="solid"/>
          </a:ln>
          <a:effectLst>
            <a:outerShdw sx="100000" sy="100000" kx="0" ky="0" algn="bl" rotWithShape="0" blurRad="101600" dist="38100" dir="16200000">
              <a:srgbClr val="000000">
                <a:alpha val="3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26280" y="3840480"/>
            <a:ext cx="502920" cy="502920"/>
          </a:xfrm>
          <a:prstGeom prst="ellipse">
            <a:avLst/>
          </a:prstGeom>
          <a:solidFill>
            <a:srgbClr val="00D4FF">
              <a:alpha val="3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52628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👁️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120640" y="38404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物品识别算法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526280" y="443484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 Kit图像标签 + 置信度过滤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实时识别+语音播报联动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760720" y="5577840"/>
            <a:ext cx="1828800" cy="228600"/>
          </a:xfrm>
          <a:prstGeom prst="roundRect">
            <a:avLst>
              <a:gd name="adj" fmla="val 24000"/>
            </a:avLst>
          </a:prstGeom>
          <a:solidFill>
            <a:srgbClr val="00D4FF">
              <a:alpha val="20000"/>
            </a:srgbClr>
          </a:solidFill>
          <a:ln w="6350">
            <a:solidFill>
              <a:srgbClr val="00D4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0" y="5577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D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111D35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D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【算法架构总览图】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7B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此处可插入：自主研发算法体系思维导图 | 算法流程图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/ 9 页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第5页 · 每个功能都对应一个痛点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7B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12项功能 · 对应痛点 · 自主研发算法 · 技术栈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822960"/>
            <a:ext cx="3657600" cy="27432"/>
          </a:xfrm>
          <a:prstGeom prst="rect">
            <a:avLst/>
          </a:prstGeom>
          <a:solidFill>
            <a:srgbClr val="0066FF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11430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45920"/>
                <a:gridCol w="2560320"/>
                <a:gridCol w="25603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功能分类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对应痛点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自主研发算法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沟通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小玉手语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路人不懂手语(61%)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手语识别算法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ML Kit+117条短语库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沟通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双向对话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沟通信息不足(61%)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手语识别算法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SpeechRecognizer+TTS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沟通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语音助手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手机操作困难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多模态感知算法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7大品牌AI唤醒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公交报站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交通不便占74%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GPS公交定位算法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GPS+震动+弹窗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网约车助手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无法沟通司机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多模态感知算法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SpeechRecognizer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无障碍地图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设施缺失(68%)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GPS公交定位算法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地图SDK+上报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一键应急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突发无人能帮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多模态感知算法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SMS+GPS+闪光灯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三重强提醒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听不到警报(84%)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多模态感知算法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震动+声音+闪光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服务中心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缺乏线下服务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多模态感知算法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预约+申领系统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生活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药品识别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看不清药盒说明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药品OCR算法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ML Kit OCR+103种库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生活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视觉辅助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视障无法感知环境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物品识别算法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ML Kit标签+语音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生活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学习中心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安全知识缺失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手语识别算法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图文+手语课程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0B1628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所有功能均以自主研发算法为底座，痛点→算法→功能，闭环对应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/ 9 页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第6页 · 三大独家功能深度解析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4572000" cy="2743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914400"/>
            <a:ext cx="11064240" cy="16916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914400"/>
            <a:ext cx="11064240" cy="36576"/>
          </a:xfrm>
          <a:prstGeom prst="roundRect">
            <a:avLst/>
          </a:prstGeom>
          <a:solidFill>
            <a:srgbClr val="0066FF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097280"/>
            <a:ext cx="411480" cy="411480"/>
          </a:xfrm>
          <a:prstGeom prst="ellipse">
            <a:avLst/>
          </a:prstGeom>
          <a:solidFill>
            <a:srgbClr val="0066FF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0515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双向手语互通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1097280"/>
            <a:ext cx="4389120" cy="274320"/>
          </a:xfrm>
          <a:prstGeom prst="roundRect">
            <a:avLst>
              <a:gd name="adj" fmla="val 26667"/>
            </a:avLst>
          </a:prstGeom>
          <a:solidFill>
            <a:srgbClr val="0066FF">
              <a:alpha val="15000"/>
            </a:srgbClr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10972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自主研发手语识别算法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80160" y="1463040"/>
            <a:ext cx="9875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痛点：路人不懂手语，沟通信息不足(61%)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功能：双屏实时对话，上半屏手语→语音，下半屏语音→文字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技术栈：ML Kit手势检测底座 + 自主研发117条高频短语库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效果：听障人和健听人用一台手机就能对话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11064240" cy="16916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743200"/>
            <a:ext cx="11064240" cy="36576"/>
          </a:xfrm>
          <a:prstGeom prst="round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2926080"/>
            <a:ext cx="411480" cy="411480"/>
          </a:xfrm>
          <a:prstGeom prst="ellipse">
            <a:avLst/>
          </a:prstGeom>
          <a:solidFill>
            <a:srgbClr val="00BFA5">
              <a:alpha val="8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926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2880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公交智能报站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2926080"/>
            <a:ext cx="4389120" cy="274320"/>
          </a:xfrm>
          <a:prstGeom prst="roundRect">
            <a:avLst>
              <a:gd name="adj" fmla="val 26667"/>
            </a:avLst>
          </a:prstGeom>
          <a:solidFill>
            <a:srgbClr val="00BFA5">
              <a:alpha val="15000"/>
            </a:srgbClr>
          </a:solidFill>
          <a:ln w="6350">
            <a:solidFill>
              <a:srgbClr val="00BF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29260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自主研发GPS定位算法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80160" y="3291840"/>
            <a:ext cx="9875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痛点：交通不便占74%，残疾人无法独立坐公交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功能：GPS实时定位，10条线路预置，到站震动+弹窗提醒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技术栈：GPS定位模块 + 自主研发到站距离计算引擎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效果：视障人士也能独立乘坐公共交通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9164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4572000"/>
            <a:ext cx="11064240" cy="36576"/>
          </a:xfrm>
          <a:prstGeom prst="roundRect">
            <a:avLst/>
          </a:prstGeom>
          <a:solidFill>
            <a:srgbClr val="FF4757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4754880"/>
            <a:ext cx="411480" cy="411480"/>
          </a:xfrm>
          <a:prstGeom prst="ellipse">
            <a:avLst/>
          </a:prstGeom>
          <a:solidFill>
            <a:srgbClr val="FF4757">
              <a:alpha val="8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7548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47091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一键应急求助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858000" y="4754880"/>
            <a:ext cx="4389120" cy="274320"/>
          </a:xfrm>
          <a:prstGeom prst="roundRect">
            <a:avLst>
              <a:gd name="adj" fmla="val 26667"/>
            </a:avLst>
          </a:prstGeom>
          <a:solidFill>
            <a:srgbClr val="FF4757">
              <a:alpha val="15000"/>
            </a:srgbClr>
          </a:solidFill>
          <a:ln w="6350">
            <a:solidFill>
              <a:srgbClr val="FF47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0" y="47548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47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自主研发多模态感知算法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80160" y="5120640"/>
            <a:ext cx="9875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痛点：突发状况无人能帮，电话求助听不到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功能：6种预设场景，一键SOS短信+GPS位置+闪光灯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技术栈：自主研发20种震动编码 + TripleAlert三重联动系统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A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效果：紧急时刻自动通知紧急联系人，吸引周围人注意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0B1628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三大功能均以自主研发算法为驱动，痛点→算法→效果 完整闭环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/ 9 页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6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第7页 · 竞品对比：微光畅行优势明显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685800"/>
            <a:ext cx="3657600" cy="27432"/>
          </a:xfrm>
          <a:prstGeom prst="rect">
            <a:avLst/>
          </a:prstGeom>
          <a:solidFill>
            <a:srgbClr val="0066FF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  <a:gridCol w="164592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对比维度 (7项)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竞品A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竞品B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竞品C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微光畅行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功能全覆盖度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仅覆盖单一人群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仅覆盖单一人群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仅覆盖单一人群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FA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覆盖全残障人群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全残障人群适配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仅听障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仅视障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仅视障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FA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听障+视障+肢残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自主研发算法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FA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5大核心自主研发算法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痛点→功能闭环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功能与痛点脱节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功能与痛点脱节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部分对应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FA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每个功能对应具体痛点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无障碍原生设计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FA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语音+大字+色盲+震动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线下服务联动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BFA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基地帮扶+设备申领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响应十五五科技助残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47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未响应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47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未响应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475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未响应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BFA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全面响应科技助残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0B1628"/>
          </a:solidFill>
          <a:ln/>
          <a:effectLst>
            <a:outerShdw sx="100000" sy="100000" kx="0" ky="0" algn="bl" rotWithShape="0" blurRad="101600" dist="25400" dir="162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5120640"/>
            <a:ext cx="11064240" cy="36576"/>
          </a:xfrm>
          <a:prstGeom prst="roundRect">
            <a:avLst/>
          </a:prstGeom>
          <a:solidFill>
            <a:srgbClr val="00D4F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51663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结论：微光畅行是唯一全面响应十五五规划要求的助残APP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竞品共性短板：无自主研发算法、功能与痛点脱节、仅覆盖单一人群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/ 9 页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066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3657600" cy="3657600"/>
          </a:xfrm>
          <a:prstGeom prst="ellipse">
            <a:avLst/>
          </a:prstGeom>
          <a:solidFill>
            <a:srgbClr val="00D4FF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第8页 · 残疾人也能用的助残APP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D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响应十五五「数字无障碍」要求——自主研发算法保障无障碍体验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10972800" cy="27432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280160"/>
            <a:ext cx="5394960" cy="2011680"/>
          </a:xfrm>
          <a:prstGeom prst="roundRect">
            <a:avLst>
              <a:gd name="adj" fmla="val 6818"/>
            </a:avLst>
          </a:prstGeom>
          <a:solidFill>
            <a:srgbClr val="111D35"/>
          </a:solidFill>
          <a:ln w="15240">
            <a:solidFill>
              <a:srgbClr val="0066FF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rgbClr val="0066FF">
              <a:alpha val="2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全局语音交互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103120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进入即TTS播报，语速/音调可调，自主研发语音引擎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5394960" cy="2011680"/>
          </a:xfrm>
          <a:prstGeom prst="roundRect">
            <a:avLst>
              <a:gd name="adj" fmla="val 6818"/>
            </a:avLst>
          </a:prstGeom>
          <a:solidFill>
            <a:srgbClr val="111D35"/>
          </a:solidFill>
          <a:ln w="15240">
            <a:solidFill>
              <a:srgbClr val="00BFA5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554480"/>
            <a:ext cx="640080" cy="640080"/>
          </a:xfrm>
          <a:prstGeom prst="ellipse">
            <a:avLst/>
          </a:prstGeom>
          <a:solidFill>
            <a:srgbClr val="00BFA5">
              <a:alpha val="2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554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269480" y="155448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大字高对比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269480" y="2103120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16sp+大字，48dp+按钮，独立于颜色传递信息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6818"/>
            </a:avLst>
          </a:prstGeom>
          <a:solidFill>
            <a:srgbClr val="111D35"/>
          </a:solidFill>
          <a:ln w="15240">
            <a:solidFill>
              <a:srgbClr val="FFB347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931920"/>
            <a:ext cx="640080" cy="640080"/>
          </a:xfrm>
          <a:prstGeom prst="ellipse">
            <a:avLst/>
          </a:prstGeom>
          <a:solidFill>
            <a:srgbClr val="FFB347">
              <a:alpha val="2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🎨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00200" y="393192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色盲友好设计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480560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高对比度色彩，关键信息不依赖颜色区分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657600"/>
            <a:ext cx="5394960" cy="2011680"/>
          </a:xfrm>
          <a:prstGeom prst="roundRect">
            <a:avLst>
              <a:gd name="adj" fmla="val 6818"/>
            </a:avLst>
          </a:prstGeom>
          <a:solidFill>
            <a:srgbClr val="111D35"/>
          </a:solidFill>
          <a:ln w="15240">
            <a:solidFill>
              <a:srgbClr val="FF4757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92240" y="3931920"/>
            <a:ext cx="640080" cy="640080"/>
          </a:xfrm>
          <a:prstGeom prst="ellipse">
            <a:avLst/>
          </a:prstGeom>
          <a:solidFill>
            <a:srgbClr val="FF4757">
              <a:alpha val="25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📳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269480" y="393192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精细震动反馈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269480" y="4480560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自主研发20种震动编码，公交到站+应急SOS+触觉闭环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/ 9 页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4572000" cy="4572000"/>
          </a:xfrm>
          <a:prstGeom prst="ellipse">
            <a:avLst/>
          </a:prstGeom>
          <a:solidFill>
            <a:srgbClr val="0066FF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5486400" cy="5486400"/>
          </a:xfrm>
          <a:prstGeom prst="ellipse">
            <a:avLst/>
          </a:prstGeom>
          <a:solidFill>
            <a:srgbClr val="00D4FF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-1828800"/>
            <a:ext cx="3200400" cy="3200400"/>
          </a:xfrm>
          <a:prstGeom prst="ellipse">
            <a:avLst/>
          </a:prstGeom>
          <a:solidFill>
            <a:srgbClr val="0066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微光汇聚   畅行无碍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4572000" y="2560320"/>
            <a:ext cx="3017520" cy="36576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2926080"/>
            <a:ext cx="9418320" cy="1371600"/>
          </a:xfrm>
          <a:prstGeom prst="roundRect">
            <a:avLst>
              <a:gd name="adj" fmla="val 10000"/>
            </a:avLst>
          </a:prstGeom>
          <a:solidFill>
            <a:srgbClr val="111D35"/>
          </a:solidFill>
          <a:ln w="19050">
            <a:solidFill>
              <a:srgbClr val="0066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301752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响应十五五「科技助残」号召
</a:t>
            </a:r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用自主研发算法消除出行障碍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让每一位残疾人都能独立、自信地走出家门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B3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微光畅行助力国家十五五残疾人事业目标实现：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493776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E8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从「项目化推进」迈向「制度化保障」——让每一位残疾人都能平等享受互联网服务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5486400"/>
            <a:ext cx="3383280" cy="27432"/>
          </a:xfrm>
          <a:prstGeom prst="rect">
            <a:avLst/>
          </a:prstGeom>
          <a:solidFill>
            <a:srgbClr val="4A7BC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 · 欢迎体验和投资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515600" y="6400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/ 9 页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微光畅行 - 十五五科技助残创新应用路演</dc:subject>
  <dc:creator>微光畅行团队</dc:creator>
  <cp:lastModifiedBy>微光畅行团队</cp:lastModifiedBy>
  <cp:revision>1</cp:revision>
  <dcterms:created xsi:type="dcterms:W3CDTF">2026-05-20T12:47:02Z</dcterms:created>
  <dcterms:modified xsi:type="dcterms:W3CDTF">2026-05-20T12:47:02Z</dcterms:modified>
</cp:coreProperties>
</file>